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1"/>
  </p:sldMasterIdLst>
  <p:sldIdLst>
    <p:sldId id="256" r:id="rId2"/>
    <p:sldId id="279"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27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D46F24F-43D6-4A09-9E41-CF544B37C6C9}"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26388267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46F24F-43D6-4A09-9E41-CF544B37C6C9}"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20842194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46F24F-43D6-4A09-9E41-CF544B37C6C9}"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12884386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D46F24F-43D6-4A09-9E41-CF544B37C6C9}"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7560491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D46F24F-43D6-4A09-9E41-CF544B37C6C9}" type="datetimeFigureOut">
              <a:rPr lang="en-IN" smtClean="0"/>
              <a:t>10-12-2025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2441230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D46F24F-43D6-4A09-9E41-CF544B37C6C9}" type="datetimeFigureOut">
              <a:rPr lang="en-IN" smtClean="0"/>
              <a:t>10-12-2025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12159479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46F24F-43D6-4A09-9E41-CF544B37C6C9}" type="datetimeFigureOut">
              <a:rPr lang="en-IN" smtClean="0"/>
              <a:t>10-12-2025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204223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46F24F-43D6-4A09-9E41-CF544B37C6C9}"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935783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D46F24F-43D6-4A09-9E41-CF544B37C6C9}"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40395309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46F24F-43D6-4A09-9E41-CF544B37C6C9}"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41555719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D46F24F-43D6-4A09-9E41-CF544B37C6C9}"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61115E60-2190-42E6-8CB9-0C3391E129E0}"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607185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D46F24F-43D6-4A09-9E41-CF544B37C6C9}"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16268905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D46F24F-43D6-4A09-9E41-CF544B37C6C9}"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1115E60-2190-42E6-8CB9-0C3391E129E0}"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4814095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7D46F24F-43D6-4A09-9E41-CF544B37C6C9}"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32810726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46F24F-43D6-4A09-9E41-CF544B37C6C9}"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5293504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D46F24F-43D6-4A09-9E41-CF544B37C6C9}"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61115E60-2190-42E6-8CB9-0C3391E129E0}" type="slidenum">
              <a:rPr lang="en-IN" smtClean="0"/>
              <a:t>‹#›</a:t>
            </a:fld>
            <a:endParaRPr lang="en-IN"/>
          </a:p>
        </p:txBody>
      </p:sp>
    </p:spTree>
    <p:extLst>
      <p:ext uri="{BB962C8B-B14F-4D97-AF65-F5344CB8AC3E}">
        <p14:creationId xmlns:p14="http://schemas.microsoft.com/office/powerpoint/2010/main" val="17376083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7D46F24F-43D6-4A09-9E41-CF544B37C6C9}" type="datetimeFigureOut">
              <a:rPr lang="en-IN" smtClean="0"/>
              <a:t>10-12-2025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61115E60-2190-42E6-8CB9-0C3391E129E0}" type="slidenum">
              <a:rPr lang="en-IN" smtClean="0"/>
              <a:t>‹#›</a:t>
            </a:fld>
            <a:endParaRPr lang="en-IN"/>
          </a:p>
        </p:txBody>
      </p:sp>
    </p:spTree>
    <p:extLst>
      <p:ext uri="{BB962C8B-B14F-4D97-AF65-F5344CB8AC3E}">
        <p14:creationId xmlns:p14="http://schemas.microsoft.com/office/powerpoint/2010/main" val="229120631"/>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8B5618-2A4B-4980-997C-DBC3F598310D}"/>
              </a:ext>
            </a:extLst>
          </p:cNvPr>
          <p:cNvSpPr>
            <a:spLocks noGrp="1"/>
          </p:cNvSpPr>
          <p:nvPr>
            <p:ph type="ctrTitle"/>
          </p:nvPr>
        </p:nvSpPr>
        <p:spPr/>
        <p:txBody>
          <a:bodyPr>
            <a:normAutofit/>
          </a:bodyPr>
          <a:lstStyle/>
          <a:p>
            <a:r>
              <a:rPr lang="en-IN" sz="4400" b="1" dirty="0"/>
              <a:t>Apple Retail Sales &amp; Warranty Analysis</a:t>
            </a:r>
          </a:p>
        </p:txBody>
      </p:sp>
      <p:sp>
        <p:nvSpPr>
          <p:cNvPr id="3" name="Subtitle 2">
            <a:extLst>
              <a:ext uri="{FF2B5EF4-FFF2-40B4-BE49-F238E27FC236}">
                <a16:creationId xmlns:a16="http://schemas.microsoft.com/office/drawing/2014/main" id="{00115D04-D598-4FE2-86A1-5AC9D9F026B5}"/>
              </a:ext>
            </a:extLst>
          </p:cNvPr>
          <p:cNvSpPr>
            <a:spLocks noGrp="1"/>
          </p:cNvSpPr>
          <p:nvPr>
            <p:ph type="subTitle" idx="1"/>
          </p:nvPr>
        </p:nvSpPr>
        <p:spPr/>
        <p:txBody>
          <a:bodyPr/>
          <a:lstStyle/>
          <a:p>
            <a:r>
              <a:rPr lang="pt-BR" sz="1800" i="1" dirty="0"/>
              <a:t>A Comprehensive SQL Data Project</a:t>
            </a:r>
            <a:endParaRPr lang="en-IN" sz="1800" i="1" dirty="0"/>
          </a:p>
          <a:p>
            <a:endParaRPr lang="en-IN" dirty="0"/>
          </a:p>
        </p:txBody>
      </p:sp>
    </p:spTree>
    <p:extLst>
      <p:ext uri="{BB962C8B-B14F-4D97-AF65-F5344CB8AC3E}">
        <p14:creationId xmlns:p14="http://schemas.microsoft.com/office/powerpoint/2010/main" val="40703902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FDE035F-31B8-4921-AE77-7F27F6CBCFEE}"/>
              </a:ext>
            </a:extLst>
          </p:cNvPr>
          <p:cNvSpPr txBox="1"/>
          <p:nvPr/>
        </p:nvSpPr>
        <p:spPr>
          <a:xfrm>
            <a:off x="-169985" y="1774372"/>
            <a:ext cx="7867740" cy="3139321"/>
          </a:xfrm>
          <a:prstGeom prst="rect">
            <a:avLst/>
          </a:prstGeom>
          <a:noFill/>
        </p:spPr>
        <p:txBody>
          <a:bodyPr vert="horz" wrap="square" rtlCol="0">
            <a:spAutoFit/>
          </a:bodyPr>
          <a:lstStyle/>
          <a:p>
            <a:r>
              <a:rPr lang="en-GB" dirty="0"/>
              <a:t>	• </a:t>
            </a:r>
            <a:r>
              <a:rPr lang="en-GB" b="1" dirty="0"/>
              <a:t>SALES</a:t>
            </a:r>
            <a:r>
              <a:rPr lang="en-GB" dirty="0"/>
              <a:t>: </a:t>
            </a:r>
          </a:p>
          <a:p>
            <a:r>
              <a:rPr lang="en-GB" dirty="0"/>
              <a:t>		Transaction records (</a:t>
            </a:r>
            <a:r>
              <a:rPr lang="en-GB" dirty="0" err="1"/>
              <a:t>sale_id</a:t>
            </a:r>
            <a:r>
              <a:rPr lang="en-GB" dirty="0"/>
              <a:t>, </a:t>
            </a:r>
            <a:r>
              <a:rPr lang="en-GB" dirty="0" err="1"/>
              <a:t>sale_date</a:t>
            </a:r>
            <a:r>
              <a:rPr lang="en-GB" dirty="0"/>
              <a:t>, </a:t>
            </a:r>
            <a:r>
              <a:rPr lang="en-GB" dirty="0" err="1"/>
              <a:t>store_id</a:t>
            </a:r>
            <a:r>
              <a:rPr lang="en-GB" dirty="0"/>
              <a:t>, </a:t>
            </a:r>
            <a:r>
              <a:rPr lang="en-GB" dirty="0" err="1"/>
              <a:t>product_id</a:t>
            </a:r>
            <a:r>
              <a:rPr lang="en-GB" dirty="0"/>
              <a:t>, 		quantity).</a:t>
            </a:r>
          </a:p>
          <a:p>
            <a:r>
              <a:rPr lang="en-GB" dirty="0"/>
              <a:t>	• </a:t>
            </a:r>
            <a:r>
              <a:rPr lang="en-GB" b="1" dirty="0"/>
              <a:t>CATEGORY</a:t>
            </a:r>
            <a:r>
              <a:rPr lang="en-GB" dirty="0"/>
              <a:t>: </a:t>
            </a:r>
          </a:p>
          <a:p>
            <a:r>
              <a:rPr lang="en-GB" dirty="0"/>
              <a:t>		Product groups (</a:t>
            </a:r>
            <a:r>
              <a:rPr lang="en-GB" dirty="0" err="1"/>
              <a:t>category_id</a:t>
            </a:r>
            <a:r>
              <a:rPr lang="en-GB" dirty="0"/>
              <a:t>, </a:t>
            </a:r>
            <a:r>
              <a:rPr lang="en-GB" dirty="0" err="1"/>
              <a:t>category_name</a:t>
            </a:r>
            <a:r>
              <a:rPr lang="en-GB" dirty="0"/>
              <a:t>).</a:t>
            </a:r>
          </a:p>
          <a:p>
            <a:r>
              <a:rPr lang="en-GB" dirty="0"/>
              <a:t>	• </a:t>
            </a:r>
            <a:r>
              <a:rPr lang="en-GB" b="1" dirty="0"/>
              <a:t>PRODUCTS</a:t>
            </a:r>
            <a:r>
              <a:rPr lang="en-GB" dirty="0"/>
              <a:t>: </a:t>
            </a:r>
          </a:p>
          <a:p>
            <a:r>
              <a:rPr lang="en-GB" dirty="0"/>
              <a:t>		Item details (</a:t>
            </a:r>
            <a:r>
              <a:rPr lang="en-GB" dirty="0" err="1"/>
              <a:t>product_id</a:t>
            </a:r>
            <a:r>
              <a:rPr lang="en-GB" dirty="0"/>
              <a:t>, </a:t>
            </a:r>
            <a:r>
              <a:rPr lang="en-GB" dirty="0" err="1"/>
              <a:t>product_name</a:t>
            </a:r>
            <a:r>
              <a:rPr lang="en-GB" dirty="0"/>
              <a:t>, </a:t>
            </a:r>
            <a:r>
              <a:rPr lang="en-GB" dirty="0" err="1"/>
              <a:t>category_id</a:t>
            </a:r>
            <a:r>
              <a:rPr lang="en-GB" dirty="0"/>
              <a:t>, price).</a:t>
            </a:r>
          </a:p>
          <a:p>
            <a:r>
              <a:rPr lang="en-GB" dirty="0"/>
              <a:t>	• </a:t>
            </a:r>
            <a:r>
              <a:rPr lang="en-GB" b="1" dirty="0"/>
              <a:t>STORES</a:t>
            </a:r>
            <a:r>
              <a:rPr lang="en-GB" dirty="0"/>
              <a:t>: </a:t>
            </a:r>
          </a:p>
          <a:p>
            <a:r>
              <a:rPr lang="en-GB" dirty="0"/>
              <a:t>		Location data (</a:t>
            </a:r>
            <a:r>
              <a:rPr lang="en-GB" dirty="0" err="1"/>
              <a:t>store_id</a:t>
            </a:r>
            <a:r>
              <a:rPr lang="en-GB" dirty="0"/>
              <a:t>, </a:t>
            </a:r>
            <a:r>
              <a:rPr lang="en-GB" dirty="0" err="1"/>
              <a:t>store_name</a:t>
            </a:r>
            <a:r>
              <a:rPr lang="en-GB" dirty="0"/>
              <a:t>, city, country).</a:t>
            </a:r>
          </a:p>
          <a:p>
            <a:r>
              <a:rPr lang="en-GB" dirty="0"/>
              <a:t>	• </a:t>
            </a:r>
            <a:r>
              <a:rPr lang="en-GB" b="1" dirty="0"/>
              <a:t>WARRANTY</a:t>
            </a:r>
            <a:r>
              <a:rPr lang="en-GB" dirty="0"/>
              <a:t>: </a:t>
            </a:r>
          </a:p>
          <a:p>
            <a:r>
              <a:rPr lang="en-GB" dirty="0"/>
              <a:t>		Claim records (</a:t>
            </a:r>
            <a:r>
              <a:rPr lang="en-GB" dirty="0" err="1"/>
              <a:t>claim_id</a:t>
            </a:r>
            <a:r>
              <a:rPr lang="en-GB" dirty="0"/>
              <a:t>, </a:t>
            </a:r>
            <a:r>
              <a:rPr lang="en-GB" dirty="0" err="1"/>
              <a:t>claim_date</a:t>
            </a:r>
            <a:r>
              <a:rPr lang="en-GB" dirty="0"/>
              <a:t>, </a:t>
            </a:r>
            <a:r>
              <a:rPr lang="en-GB" dirty="0" err="1"/>
              <a:t>sale_id</a:t>
            </a:r>
            <a:r>
              <a:rPr lang="en-GB" dirty="0"/>
              <a:t>, </a:t>
            </a:r>
            <a:r>
              <a:rPr lang="en-GB" dirty="0" err="1"/>
              <a:t>repair_status</a:t>
            </a:r>
            <a:r>
              <a:rPr lang="en-GB" dirty="0"/>
              <a:t>).</a:t>
            </a:r>
            <a:endParaRPr lang="en-IN" dirty="0"/>
          </a:p>
        </p:txBody>
      </p:sp>
      <p:pic>
        <p:nvPicPr>
          <p:cNvPr id="8" name="Picture 7">
            <a:extLst>
              <a:ext uri="{FF2B5EF4-FFF2-40B4-BE49-F238E27FC236}">
                <a16:creationId xmlns:a16="http://schemas.microsoft.com/office/drawing/2014/main" id="{6C2ED5CB-8DB4-49B8-A843-C040DC1EC35B}"/>
              </a:ext>
            </a:extLst>
          </p:cNvPr>
          <p:cNvPicPr>
            <a:picLocks noChangeAspect="1"/>
          </p:cNvPicPr>
          <p:nvPr/>
        </p:nvPicPr>
        <p:blipFill>
          <a:blip r:embed="rId2"/>
          <a:stretch>
            <a:fillRect/>
          </a:stretch>
        </p:blipFill>
        <p:spPr>
          <a:xfrm>
            <a:off x="8276253" y="435347"/>
            <a:ext cx="3721839" cy="5987306"/>
          </a:xfrm>
          <a:prstGeom prst="rect">
            <a:avLst/>
          </a:prstGeom>
        </p:spPr>
      </p:pic>
      <p:sp>
        <p:nvSpPr>
          <p:cNvPr id="9" name="Title 1">
            <a:extLst>
              <a:ext uri="{FF2B5EF4-FFF2-40B4-BE49-F238E27FC236}">
                <a16:creationId xmlns:a16="http://schemas.microsoft.com/office/drawing/2014/main" id="{D883B5FA-14ED-4C75-82FA-B5B40B3AF65A}"/>
              </a:ext>
            </a:extLst>
          </p:cNvPr>
          <p:cNvSpPr txBox="1">
            <a:spLocks/>
          </p:cNvSpPr>
          <p:nvPr/>
        </p:nvSpPr>
        <p:spPr>
          <a:xfrm>
            <a:off x="1640156" y="655502"/>
            <a:ext cx="5926972" cy="818506"/>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Data Tables Description :</a:t>
            </a:r>
          </a:p>
        </p:txBody>
      </p:sp>
    </p:spTree>
    <p:extLst>
      <p:ext uri="{BB962C8B-B14F-4D97-AF65-F5344CB8AC3E}">
        <p14:creationId xmlns:p14="http://schemas.microsoft.com/office/powerpoint/2010/main" val="2380879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700C30-C292-498A-9FB1-8878AF02F03B}"/>
              </a:ext>
            </a:extLst>
          </p:cNvPr>
          <p:cNvSpPr>
            <a:spLocks noGrp="1"/>
          </p:cNvSpPr>
          <p:nvPr>
            <p:ph type="title"/>
          </p:nvPr>
        </p:nvSpPr>
        <p:spPr>
          <a:xfrm>
            <a:off x="1481535" y="4187889"/>
            <a:ext cx="10088423" cy="1280890"/>
          </a:xfrm>
        </p:spPr>
        <p:txBody>
          <a:bodyPr>
            <a:noAutofit/>
          </a:bodyPr>
          <a:lstStyle/>
          <a:p>
            <a:r>
              <a:rPr lang="en-GB" sz="2400" b="1" dirty="0"/>
              <a:t>Key Focus Areas:</a:t>
            </a:r>
            <a:br>
              <a:rPr lang="en-GB" sz="2400" b="1" dirty="0"/>
            </a:br>
            <a:r>
              <a:rPr lang="en-GB" sz="2400" dirty="0"/>
              <a:t> 	- Revenue, Growth Rate, Seasonality (Sales &amp; Revenue)</a:t>
            </a:r>
            <a:br>
              <a:rPr lang="en-GB" sz="2400" dirty="0"/>
            </a:br>
            <a:r>
              <a:rPr lang="en-GB" sz="2400" dirty="0"/>
              <a:t> 	- Quality, Claims, Product Life Cycle (Warranty &amp; Product)</a:t>
            </a:r>
            <a:br>
              <a:rPr lang="en-GB" sz="2400" dirty="0"/>
            </a:br>
            <a:r>
              <a:rPr lang="en-GB" sz="2400" dirty="0"/>
              <a:t> 	- Store Ranking, Claim Ratio, Diversity (Store Performance)</a:t>
            </a:r>
            <a:endParaRPr lang="en-IN" sz="2400" dirty="0"/>
          </a:p>
        </p:txBody>
      </p:sp>
      <p:sp>
        <p:nvSpPr>
          <p:cNvPr id="4" name="Title 1">
            <a:extLst>
              <a:ext uri="{FF2B5EF4-FFF2-40B4-BE49-F238E27FC236}">
                <a16:creationId xmlns:a16="http://schemas.microsoft.com/office/drawing/2014/main" id="{2CA2749D-E290-42DA-B6CE-F85985949568}"/>
              </a:ext>
            </a:extLst>
          </p:cNvPr>
          <p:cNvSpPr txBox="1">
            <a:spLocks/>
          </p:cNvSpPr>
          <p:nvPr/>
        </p:nvSpPr>
        <p:spPr>
          <a:xfrm>
            <a:off x="1481535" y="2029666"/>
            <a:ext cx="8911687" cy="1280890"/>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2400" b="1" dirty="0"/>
              <a:t>Project Goal:</a:t>
            </a:r>
            <a:br>
              <a:rPr lang="en-GB" sz="2400" b="1" dirty="0"/>
            </a:br>
            <a:r>
              <a:rPr lang="en-GB" sz="2400" dirty="0"/>
              <a:t> 	- Analyse sales, product quality, and store performance using relational SQL queries.</a:t>
            </a:r>
            <a:endParaRPr lang="en-IN" sz="2400" dirty="0"/>
          </a:p>
        </p:txBody>
      </p:sp>
      <p:sp>
        <p:nvSpPr>
          <p:cNvPr id="7" name="Title 1">
            <a:extLst>
              <a:ext uri="{FF2B5EF4-FFF2-40B4-BE49-F238E27FC236}">
                <a16:creationId xmlns:a16="http://schemas.microsoft.com/office/drawing/2014/main" id="{F6332498-484D-4140-A9EB-79086850ADE8}"/>
              </a:ext>
            </a:extLst>
          </p:cNvPr>
          <p:cNvSpPr txBox="1">
            <a:spLocks/>
          </p:cNvSpPr>
          <p:nvPr/>
        </p:nvSpPr>
        <p:spPr>
          <a:xfrm>
            <a:off x="1640155" y="655502"/>
            <a:ext cx="8911687" cy="818506"/>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GOAL &amp; FOCUS:</a:t>
            </a:r>
            <a:endParaRPr lang="en-IN" dirty="0"/>
          </a:p>
        </p:txBody>
      </p:sp>
    </p:spTree>
    <p:extLst>
      <p:ext uri="{BB962C8B-B14F-4D97-AF65-F5344CB8AC3E}">
        <p14:creationId xmlns:p14="http://schemas.microsoft.com/office/powerpoint/2010/main" val="35597833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8F9F6-05EA-4223-97D4-135E45692126}"/>
              </a:ext>
            </a:extLst>
          </p:cNvPr>
          <p:cNvSpPr>
            <a:spLocks noGrp="1"/>
          </p:cNvSpPr>
          <p:nvPr>
            <p:ph type="title"/>
          </p:nvPr>
        </p:nvSpPr>
        <p:spPr>
          <a:xfrm>
            <a:off x="2116017" y="1602423"/>
            <a:ext cx="8911687" cy="1280890"/>
          </a:xfrm>
        </p:spPr>
        <p:txBody>
          <a:bodyPr>
            <a:noAutofit/>
          </a:bodyPr>
          <a:lstStyle/>
          <a:p>
            <a:r>
              <a:rPr lang="en-GB" sz="1800" dirty="0"/>
              <a:t>1. Data Acquisition:</a:t>
            </a:r>
            <a:br>
              <a:rPr lang="en-GB" sz="1800" dirty="0"/>
            </a:br>
            <a:r>
              <a:rPr lang="en-GB" sz="1800" dirty="0"/>
              <a:t> - Initial schema review of 5 core tables (category, products, sales, stores, warranty).</a:t>
            </a:r>
            <a:endParaRPr lang="en-IN" sz="1800" dirty="0"/>
          </a:p>
        </p:txBody>
      </p:sp>
      <p:sp>
        <p:nvSpPr>
          <p:cNvPr id="3" name="Title 1">
            <a:extLst>
              <a:ext uri="{FF2B5EF4-FFF2-40B4-BE49-F238E27FC236}">
                <a16:creationId xmlns:a16="http://schemas.microsoft.com/office/drawing/2014/main" id="{1919440E-0DD4-4095-A0C7-383730FE80D4}"/>
              </a:ext>
            </a:extLst>
          </p:cNvPr>
          <p:cNvSpPr txBox="1">
            <a:spLocks/>
          </p:cNvSpPr>
          <p:nvPr/>
        </p:nvSpPr>
        <p:spPr>
          <a:xfrm>
            <a:off x="2116017" y="3058383"/>
            <a:ext cx="8911687" cy="1280890"/>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1800" dirty="0"/>
              <a:t>2. Data Cleaning &amp; Validation: (CRITICAL STEP)</a:t>
            </a:r>
            <a:br>
              <a:rPr lang="en-GB" sz="1800" dirty="0"/>
            </a:br>
            <a:r>
              <a:rPr lang="en-GB" sz="1800" dirty="0"/>
              <a:t> - Confirmed </a:t>
            </a:r>
            <a:r>
              <a:rPr lang="en-GB" sz="1800" b="1" dirty="0"/>
              <a:t>NO NULL</a:t>
            </a:r>
            <a:r>
              <a:rPr lang="en-GB" sz="1800" dirty="0"/>
              <a:t> values in primary/critical columns.</a:t>
            </a:r>
            <a:br>
              <a:rPr lang="en-GB" sz="1800" dirty="0"/>
            </a:br>
            <a:r>
              <a:rPr lang="en-GB" sz="1800" dirty="0"/>
              <a:t> - Confirmed </a:t>
            </a:r>
            <a:r>
              <a:rPr lang="en-GB" sz="1800" b="1" dirty="0"/>
              <a:t>NO DUPLICATE</a:t>
            </a:r>
            <a:r>
              <a:rPr lang="en-GB" sz="1800" dirty="0"/>
              <a:t> rows across all primary keys.</a:t>
            </a:r>
            <a:br>
              <a:rPr lang="en-GB" sz="1800" dirty="0"/>
            </a:br>
            <a:endParaRPr lang="en-IN" sz="1800" dirty="0"/>
          </a:p>
        </p:txBody>
      </p:sp>
      <p:sp>
        <p:nvSpPr>
          <p:cNvPr id="4" name="Title 1">
            <a:extLst>
              <a:ext uri="{FF2B5EF4-FFF2-40B4-BE49-F238E27FC236}">
                <a16:creationId xmlns:a16="http://schemas.microsoft.com/office/drawing/2014/main" id="{7E44CD7F-BC18-4787-805D-DB9AD8C6249B}"/>
              </a:ext>
            </a:extLst>
          </p:cNvPr>
          <p:cNvSpPr txBox="1">
            <a:spLocks/>
          </p:cNvSpPr>
          <p:nvPr/>
        </p:nvSpPr>
        <p:spPr>
          <a:xfrm>
            <a:off x="2116017" y="4514343"/>
            <a:ext cx="8911687" cy="2271233"/>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sz="1800" dirty="0"/>
              <a:t>3. Analysis &amp; Transformation:</a:t>
            </a:r>
            <a:br>
              <a:rPr lang="en-GB" sz="1800" dirty="0"/>
            </a:br>
            <a:r>
              <a:rPr lang="en-GB" sz="1800" dirty="0"/>
              <a:t> - Utilized JOINs to link transactional, product, and location data.</a:t>
            </a:r>
            <a:br>
              <a:rPr lang="en-GB" sz="1800" dirty="0"/>
            </a:br>
            <a:r>
              <a:rPr lang="en-GB" sz="1800" dirty="0"/>
              <a:t> - Employed Window Functions (LAG, RANK) for time-series and comparative analysis.</a:t>
            </a:r>
            <a:br>
              <a:rPr lang="en-GB" sz="1800" dirty="0"/>
            </a:br>
            <a:r>
              <a:rPr lang="en-GB" sz="1800" dirty="0"/>
              <a:t> - Applied Aggregation (SUM, AVG, COUNT) for key metrics (Revenue, Claims, Sales).</a:t>
            </a:r>
            <a:endParaRPr lang="en-IN" sz="1800" dirty="0"/>
          </a:p>
        </p:txBody>
      </p:sp>
      <p:sp>
        <p:nvSpPr>
          <p:cNvPr id="5" name="Title 1">
            <a:extLst>
              <a:ext uri="{FF2B5EF4-FFF2-40B4-BE49-F238E27FC236}">
                <a16:creationId xmlns:a16="http://schemas.microsoft.com/office/drawing/2014/main" id="{C367A97C-3F5B-4E61-9C1F-322C34F9BD3A}"/>
              </a:ext>
            </a:extLst>
          </p:cNvPr>
          <p:cNvSpPr txBox="1">
            <a:spLocks/>
          </p:cNvSpPr>
          <p:nvPr/>
        </p:nvSpPr>
        <p:spPr>
          <a:xfrm>
            <a:off x="1640155" y="655502"/>
            <a:ext cx="8911687" cy="818506"/>
          </a:xfrm>
          <a:prstGeom prst="rect">
            <a:avLst/>
          </a:prstGeom>
        </p:spPr>
        <p:txBody>
          <a:bodyPr vert="horz" lIns="91440" tIns="45720" rIns="91440" bIns="45720" rtlCol="0" anchor="t">
            <a:normAutofit fontScale="97500"/>
          </a:bodyPr>
          <a:lst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PROCESSES CONDUCTED:</a:t>
            </a:r>
            <a:endParaRPr lang="en-IN" dirty="0"/>
          </a:p>
        </p:txBody>
      </p:sp>
    </p:spTree>
    <p:extLst>
      <p:ext uri="{BB962C8B-B14F-4D97-AF65-F5344CB8AC3E}">
        <p14:creationId xmlns:p14="http://schemas.microsoft.com/office/powerpoint/2010/main" val="536862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576B47-4B0B-4299-9F3E-CE995E408518}"/>
              </a:ext>
            </a:extLst>
          </p:cNvPr>
          <p:cNvSpPr>
            <a:spLocks noGrp="1"/>
          </p:cNvSpPr>
          <p:nvPr>
            <p:ph type="title"/>
          </p:nvPr>
        </p:nvSpPr>
        <p:spPr>
          <a:xfrm>
            <a:off x="1640155" y="497110"/>
            <a:ext cx="8911687" cy="1280890"/>
          </a:xfrm>
        </p:spPr>
        <p:txBody>
          <a:bodyPr>
            <a:normAutofit fontScale="90000"/>
          </a:bodyPr>
          <a:lstStyle/>
          <a:p>
            <a:r>
              <a:rPr lang="en-GB" dirty="0"/>
              <a:t>01. Find the top 5 products that generated the highest revenue in the last year.</a:t>
            </a:r>
            <a:endParaRPr lang="en-IN" dirty="0"/>
          </a:p>
        </p:txBody>
      </p:sp>
      <p:sp>
        <p:nvSpPr>
          <p:cNvPr id="3" name="TextBox 2">
            <a:extLst>
              <a:ext uri="{FF2B5EF4-FFF2-40B4-BE49-F238E27FC236}">
                <a16:creationId xmlns:a16="http://schemas.microsoft.com/office/drawing/2014/main" id="{8DB028DB-47C2-42F3-AB27-541BA44D68F4}"/>
              </a:ext>
            </a:extLst>
          </p:cNvPr>
          <p:cNvSpPr txBox="1"/>
          <p:nvPr/>
        </p:nvSpPr>
        <p:spPr>
          <a:xfrm>
            <a:off x="380999" y="2644170"/>
            <a:ext cx="5715000" cy="1569660"/>
          </a:xfrm>
          <a:prstGeom prst="rect">
            <a:avLst/>
          </a:prstGeom>
          <a:solidFill>
            <a:srgbClr val="F0F0F0"/>
          </a:solidFill>
        </p:spPr>
        <p:txBody>
          <a:bodyPr vert="horz" wrap="square" rtlCol="0">
            <a:spAutoFit/>
          </a:bodyPr>
          <a:lstStyle/>
          <a:p>
            <a:r>
              <a:rPr lang="en-IN" sz="1200" dirty="0">
                <a:latin typeface="Consolas" panose="020B0609020204030204" pitchFamily="49" charset="0"/>
              </a:rPr>
              <a:t>SQL Query:</a:t>
            </a:r>
          </a:p>
          <a:p>
            <a:r>
              <a:rPr lang="en-IN" sz="1200" dirty="0">
                <a:latin typeface="Consolas" panose="020B0609020204030204" pitchFamily="49" charset="0"/>
              </a:rPr>
              <a:t>SELECT </a:t>
            </a:r>
            <a:r>
              <a:rPr lang="en-IN" sz="1200" dirty="0" err="1">
                <a:latin typeface="Consolas" panose="020B0609020204030204" pitchFamily="49" charset="0"/>
              </a:rPr>
              <a:t>products.Product_Name</a:t>
            </a:r>
            <a:r>
              <a:rPr lang="en-IN" sz="1200" dirty="0">
                <a:latin typeface="Consolas" panose="020B0609020204030204" pitchFamily="49" charset="0"/>
              </a:rPr>
              <a:t>, SUM(</a:t>
            </a:r>
            <a:r>
              <a:rPr lang="en-IN" sz="1200" dirty="0" err="1">
                <a:latin typeface="Consolas" panose="020B0609020204030204" pitchFamily="49" charset="0"/>
              </a:rPr>
              <a:t>sales.quantity</a:t>
            </a:r>
            <a:r>
              <a:rPr lang="en-IN" sz="1200" dirty="0">
                <a:latin typeface="Consolas" panose="020B0609020204030204" pitchFamily="49" charset="0"/>
              </a:rPr>
              <a:t> * </a:t>
            </a:r>
            <a:r>
              <a:rPr lang="en-IN" sz="1200" dirty="0" err="1">
                <a:latin typeface="Consolas" panose="020B0609020204030204" pitchFamily="49" charset="0"/>
              </a:rPr>
              <a:t>products.Price</a:t>
            </a:r>
            <a:r>
              <a:rPr lang="en-IN" sz="1200" dirty="0">
                <a:latin typeface="Consolas" panose="020B0609020204030204" pitchFamily="49" charset="0"/>
              </a:rPr>
              <a:t>) AS TOTAL_REVENUE</a:t>
            </a:r>
          </a:p>
          <a:p>
            <a:r>
              <a:rPr lang="en-IN" sz="1200" dirty="0">
                <a:latin typeface="Consolas" panose="020B0609020204030204" pitchFamily="49" charset="0"/>
              </a:rPr>
              <a:t>FROM products JOIN sales ON </a:t>
            </a:r>
            <a:r>
              <a:rPr lang="en-IN" sz="1200" dirty="0" err="1">
                <a:latin typeface="Consolas" panose="020B0609020204030204" pitchFamily="49" charset="0"/>
              </a:rPr>
              <a:t>products.Product_ID</a:t>
            </a:r>
            <a:r>
              <a:rPr lang="en-IN" sz="1200" dirty="0">
                <a:latin typeface="Consolas" panose="020B0609020204030204" pitchFamily="49" charset="0"/>
              </a:rPr>
              <a:t> = </a:t>
            </a:r>
            <a:r>
              <a:rPr lang="en-IN" sz="1200" dirty="0" err="1">
                <a:latin typeface="Consolas" panose="020B0609020204030204" pitchFamily="49" charset="0"/>
              </a:rPr>
              <a:t>sales.product_id</a:t>
            </a:r>
            <a:endParaRPr lang="en-IN" sz="1200" dirty="0">
              <a:latin typeface="Consolas" panose="020B0609020204030204" pitchFamily="49" charset="0"/>
            </a:endParaRPr>
          </a:p>
          <a:p>
            <a:r>
              <a:rPr lang="en-IN" sz="1200" dirty="0">
                <a:latin typeface="Consolas" panose="020B0609020204030204" pitchFamily="49" charset="0"/>
              </a:rPr>
              <a:t>WHERE </a:t>
            </a:r>
            <a:r>
              <a:rPr lang="en-IN" sz="1200" dirty="0" err="1">
                <a:latin typeface="Consolas" panose="020B0609020204030204" pitchFamily="49" charset="0"/>
              </a:rPr>
              <a:t>sales.sale_date</a:t>
            </a:r>
            <a:r>
              <a:rPr lang="en-IN" sz="1200" dirty="0">
                <a:latin typeface="Consolas" panose="020B0609020204030204" pitchFamily="49" charset="0"/>
              </a:rPr>
              <a:t> &gt;= DATE_SUB(CURDATE(), INTERVAL 1 YEAR)</a:t>
            </a:r>
          </a:p>
          <a:p>
            <a:r>
              <a:rPr lang="en-IN" sz="1200" dirty="0">
                <a:latin typeface="Consolas" panose="020B0609020204030204" pitchFamily="49" charset="0"/>
              </a:rPr>
              <a:t>GROUP BY </a:t>
            </a:r>
            <a:r>
              <a:rPr lang="en-IN" sz="1200" dirty="0" err="1">
                <a:latin typeface="Consolas" panose="020B0609020204030204" pitchFamily="49" charset="0"/>
              </a:rPr>
              <a:t>products.Product_Name</a:t>
            </a:r>
            <a:r>
              <a:rPr lang="en-IN" sz="1200" dirty="0">
                <a:latin typeface="Consolas" panose="020B0609020204030204" pitchFamily="49" charset="0"/>
              </a:rPr>
              <a:t> ORDER BY TOTAL_REVENUE DESC LIMIT 5;</a:t>
            </a:r>
          </a:p>
        </p:txBody>
      </p:sp>
      <p:sp>
        <p:nvSpPr>
          <p:cNvPr id="4" name="Rectangle 3">
            <a:extLst>
              <a:ext uri="{FF2B5EF4-FFF2-40B4-BE49-F238E27FC236}">
                <a16:creationId xmlns:a16="http://schemas.microsoft.com/office/drawing/2014/main" id="{9C6CD172-8DA4-40EE-A23A-49871592645D}"/>
              </a:ext>
            </a:extLst>
          </p:cNvPr>
          <p:cNvSpPr/>
          <p:nvPr/>
        </p:nvSpPr>
        <p:spPr>
          <a:xfrm>
            <a:off x="6387322" y="1841500"/>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39561AD6-429A-4924-8CA9-B12A282977B8}"/>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This report highlights the top 5 revenue‑generating products in the latest sales year, showing key drivers of business performance.</a:t>
            </a:r>
            <a:endParaRPr lang="en-IN" sz="2000" dirty="0"/>
          </a:p>
        </p:txBody>
      </p:sp>
      <p:pic>
        <p:nvPicPr>
          <p:cNvPr id="9" name="Picture 8">
            <a:extLst>
              <a:ext uri="{FF2B5EF4-FFF2-40B4-BE49-F238E27FC236}">
                <a16:creationId xmlns:a16="http://schemas.microsoft.com/office/drawing/2014/main" id="{7E3CA4B3-9A16-4CC3-ADB4-1B25DE68D600}"/>
              </a:ext>
            </a:extLst>
          </p:cNvPr>
          <p:cNvPicPr>
            <a:picLocks noChangeAspect="1"/>
          </p:cNvPicPr>
          <p:nvPr/>
        </p:nvPicPr>
        <p:blipFill>
          <a:blip r:embed="rId2"/>
          <a:stretch>
            <a:fillRect/>
          </a:stretch>
        </p:blipFill>
        <p:spPr>
          <a:xfrm>
            <a:off x="6807687" y="2228680"/>
            <a:ext cx="5003314" cy="2235088"/>
          </a:xfrm>
          <a:prstGeom prst="rect">
            <a:avLst/>
          </a:prstGeom>
        </p:spPr>
      </p:pic>
    </p:spTree>
    <p:extLst>
      <p:ext uri="{BB962C8B-B14F-4D97-AF65-F5344CB8AC3E}">
        <p14:creationId xmlns:p14="http://schemas.microsoft.com/office/powerpoint/2010/main" val="2173213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BD75B-7286-4A9F-9783-642EE3A08456}"/>
              </a:ext>
            </a:extLst>
          </p:cNvPr>
          <p:cNvSpPr>
            <a:spLocks noGrp="1"/>
          </p:cNvSpPr>
          <p:nvPr>
            <p:ph type="title"/>
          </p:nvPr>
        </p:nvSpPr>
        <p:spPr>
          <a:xfrm>
            <a:off x="1640155" y="328559"/>
            <a:ext cx="8911687" cy="1280890"/>
          </a:xfrm>
        </p:spPr>
        <p:txBody>
          <a:bodyPr/>
          <a:lstStyle/>
          <a:p>
            <a:r>
              <a:rPr lang="en-GB" dirty="0"/>
              <a:t>02. Calculate the monthly sales growth rate for each store.</a:t>
            </a:r>
            <a:endParaRPr lang="en-IN" dirty="0"/>
          </a:p>
        </p:txBody>
      </p:sp>
      <p:sp>
        <p:nvSpPr>
          <p:cNvPr id="3" name="TextBox 2">
            <a:extLst>
              <a:ext uri="{FF2B5EF4-FFF2-40B4-BE49-F238E27FC236}">
                <a16:creationId xmlns:a16="http://schemas.microsoft.com/office/drawing/2014/main" id="{251B9071-89E6-49E3-8A2C-58CE572EE8FA}"/>
              </a:ext>
            </a:extLst>
          </p:cNvPr>
          <p:cNvSpPr txBox="1"/>
          <p:nvPr/>
        </p:nvSpPr>
        <p:spPr>
          <a:xfrm>
            <a:off x="380999" y="2921168"/>
            <a:ext cx="5715000" cy="1015663"/>
          </a:xfrm>
          <a:prstGeom prst="rect">
            <a:avLst/>
          </a:prstGeom>
          <a:solidFill>
            <a:srgbClr val="F0F0F0"/>
          </a:solidFill>
        </p:spPr>
        <p:txBody>
          <a:bodyPr vert="horz" wrap="square" rtlCol="0">
            <a:spAutoFit/>
          </a:bodyPr>
          <a:lstStyle/>
          <a:p>
            <a:r>
              <a:rPr lang="en-GB" sz="1200">
                <a:latin typeface="Consolas" panose="020B0609020204030204" pitchFamily="49" charset="0"/>
              </a:rPr>
              <a:t>SQL Query:</a:t>
            </a:r>
          </a:p>
          <a:p>
            <a:r>
              <a:rPr lang="en-GB" sz="1200">
                <a:latin typeface="Consolas" panose="020B0609020204030204" pitchFamily="49" charset="0"/>
              </a:rPr>
              <a:t>WITH MONTHLY_SALES AS (...), MONTH_GROWTH AS (...) </a:t>
            </a:r>
          </a:p>
          <a:p>
            <a:r>
              <a:rPr lang="en-GB" sz="1200">
                <a:latin typeface="Consolas" panose="020B0609020204030204" pitchFamily="49" charset="0"/>
              </a:rPr>
              <a:t>SELECT *, ROUND((100 * ((TOTAL_REVENUE - PREVIOUS_MONTH_REVENUE) / PREVIOUS_MONTH_REVENUE)),2) AS MONTH_GROWTH_PCT </a:t>
            </a:r>
          </a:p>
          <a:p>
            <a:r>
              <a:rPr lang="en-GB" sz="1200">
                <a:latin typeface="Consolas" panose="020B0609020204030204" pitchFamily="49" charset="0"/>
              </a:rPr>
              <a:t>FROM MONTH_GROWTH;</a:t>
            </a:r>
            <a:endParaRPr lang="en-IN" sz="1200">
              <a:latin typeface="Consolas" panose="020B0609020204030204" pitchFamily="49" charset="0"/>
            </a:endParaRPr>
          </a:p>
        </p:txBody>
      </p:sp>
      <p:sp>
        <p:nvSpPr>
          <p:cNvPr id="4" name="Rectangle 3">
            <a:extLst>
              <a:ext uri="{FF2B5EF4-FFF2-40B4-BE49-F238E27FC236}">
                <a16:creationId xmlns:a16="http://schemas.microsoft.com/office/drawing/2014/main" id="{45D459D5-97ED-47DF-9A0E-8F12C7109D87}"/>
              </a:ext>
            </a:extLst>
          </p:cNvPr>
          <p:cNvSpPr/>
          <p:nvPr/>
        </p:nvSpPr>
        <p:spPr>
          <a:xfrm>
            <a:off x="6286500" y="1838567"/>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FDCD8789-AE0F-4F43-8438-E8DC04A5E674}"/>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This report tracks month‑over‑month revenue growth for each store, showing which locations are accelerating fastest.</a:t>
            </a:r>
            <a:endParaRPr lang="en-IN" sz="2000" dirty="0"/>
          </a:p>
        </p:txBody>
      </p:sp>
      <p:pic>
        <p:nvPicPr>
          <p:cNvPr id="7" name="Picture 6">
            <a:extLst>
              <a:ext uri="{FF2B5EF4-FFF2-40B4-BE49-F238E27FC236}">
                <a16:creationId xmlns:a16="http://schemas.microsoft.com/office/drawing/2014/main" id="{350447CF-D6D3-47D0-9885-52BE46EBF91D}"/>
              </a:ext>
            </a:extLst>
          </p:cNvPr>
          <p:cNvPicPr>
            <a:picLocks noChangeAspect="1"/>
          </p:cNvPicPr>
          <p:nvPr/>
        </p:nvPicPr>
        <p:blipFill>
          <a:blip r:embed="rId2"/>
          <a:stretch>
            <a:fillRect/>
          </a:stretch>
        </p:blipFill>
        <p:spPr>
          <a:xfrm>
            <a:off x="6514733" y="2087617"/>
            <a:ext cx="5258534" cy="2676899"/>
          </a:xfrm>
          <a:prstGeom prst="rect">
            <a:avLst/>
          </a:prstGeom>
        </p:spPr>
      </p:pic>
    </p:spTree>
    <p:extLst>
      <p:ext uri="{BB962C8B-B14F-4D97-AF65-F5344CB8AC3E}">
        <p14:creationId xmlns:p14="http://schemas.microsoft.com/office/powerpoint/2010/main" val="30127958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E99AF-CBAB-4E1F-BCA8-C073C71EA8CE}"/>
              </a:ext>
            </a:extLst>
          </p:cNvPr>
          <p:cNvSpPr>
            <a:spLocks noGrp="1"/>
          </p:cNvSpPr>
          <p:nvPr>
            <p:ph type="title"/>
          </p:nvPr>
        </p:nvSpPr>
        <p:spPr>
          <a:xfrm>
            <a:off x="1640156" y="335916"/>
            <a:ext cx="8911687" cy="1280890"/>
          </a:xfrm>
        </p:spPr>
        <p:txBody>
          <a:bodyPr/>
          <a:lstStyle/>
          <a:p>
            <a:r>
              <a:rPr lang="en-GB" dirty="0"/>
              <a:t>03. Identify the seasonal trends in product sales (e.g., peak months).</a:t>
            </a:r>
            <a:endParaRPr lang="en-IN" dirty="0"/>
          </a:p>
        </p:txBody>
      </p:sp>
      <p:sp>
        <p:nvSpPr>
          <p:cNvPr id="3" name="TextBox 2">
            <a:extLst>
              <a:ext uri="{FF2B5EF4-FFF2-40B4-BE49-F238E27FC236}">
                <a16:creationId xmlns:a16="http://schemas.microsoft.com/office/drawing/2014/main" id="{5A41F8E6-9C79-4FED-920F-DCDE419339A4}"/>
              </a:ext>
            </a:extLst>
          </p:cNvPr>
          <p:cNvSpPr txBox="1"/>
          <p:nvPr/>
        </p:nvSpPr>
        <p:spPr>
          <a:xfrm>
            <a:off x="381000" y="2736502"/>
            <a:ext cx="5715000" cy="1384995"/>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SELECT MONTH(</a:t>
            </a:r>
            <a:r>
              <a:rPr lang="en-GB" sz="1200" dirty="0" err="1">
                <a:latin typeface="Consolas" panose="020B0609020204030204" pitchFamily="49" charset="0"/>
              </a:rPr>
              <a:t>sales.sale_date</a:t>
            </a:r>
            <a:r>
              <a:rPr lang="en-GB" sz="1200" dirty="0">
                <a:latin typeface="Consolas" panose="020B0609020204030204" pitchFamily="49" charset="0"/>
              </a:rPr>
              <a:t>) AS SALES_MONTH, AVG(</a:t>
            </a:r>
            <a:r>
              <a:rPr lang="en-GB" sz="1200" dirty="0" err="1">
                <a:latin typeface="Consolas" panose="020B0609020204030204" pitchFamily="49" charset="0"/>
              </a:rPr>
              <a:t>sales.quantity</a:t>
            </a:r>
            <a:r>
              <a:rPr lang="en-GB" sz="1200" dirty="0">
                <a:latin typeface="Consolas" panose="020B0609020204030204" pitchFamily="49" charset="0"/>
              </a:rPr>
              <a:t> * </a:t>
            </a:r>
            <a:r>
              <a:rPr lang="en-GB" sz="1200" dirty="0" err="1">
                <a:latin typeface="Consolas" panose="020B0609020204030204" pitchFamily="49" charset="0"/>
              </a:rPr>
              <a:t>products.Price</a:t>
            </a:r>
            <a:r>
              <a:rPr lang="en-GB" sz="1200" dirty="0">
                <a:latin typeface="Consolas" panose="020B0609020204030204" pitchFamily="49" charset="0"/>
              </a:rPr>
              <a:t>) AS AVERAGE_REVENUE, </a:t>
            </a:r>
          </a:p>
          <a:p>
            <a:r>
              <a:rPr lang="en-GB" sz="1200" dirty="0">
                <a:latin typeface="Consolas" panose="020B0609020204030204" pitchFamily="49" charset="0"/>
              </a:rPr>
              <a:t>SUM(</a:t>
            </a:r>
            <a:r>
              <a:rPr lang="en-GB" sz="1200" dirty="0" err="1">
                <a:latin typeface="Consolas" panose="020B0609020204030204" pitchFamily="49" charset="0"/>
              </a:rPr>
              <a:t>sales.quantity</a:t>
            </a:r>
            <a:r>
              <a:rPr lang="en-GB" sz="1200" dirty="0">
                <a:latin typeface="Consolas" panose="020B0609020204030204" pitchFamily="49" charset="0"/>
              </a:rPr>
              <a:t> * </a:t>
            </a:r>
            <a:r>
              <a:rPr lang="en-GB" sz="1200" dirty="0" err="1">
                <a:latin typeface="Consolas" panose="020B0609020204030204" pitchFamily="49" charset="0"/>
              </a:rPr>
              <a:t>products.Price</a:t>
            </a:r>
            <a:r>
              <a:rPr lang="en-GB" sz="1200" dirty="0">
                <a:latin typeface="Consolas" panose="020B0609020204030204" pitchFamily="49" charset="0"/>
              </a:rPr>
              <a:t>) AS TOTAL_REVENUE</a:t>
            </a:r>
          </a:p>
          <a:p>
            <a:r>
              <a:rPr lang="en-GB" sz="1200" dirty="0">
                <a:latin typeface="Consolas" panose="020B0609020204030204" pitchFamily="49" charset="0"/>
              </a:rPr>
              <a:t>FROM sales JOIN products ON </a:t>
            </a:r>
            <a:r>
              <a:rPr lang="en-GB" sz="1200" dirty="0" err="1">
                <a:latin typeface="Consolas" panose="020B0609020204030204" pitchFamily="49" charset="0"/>
              </a:rPr>
              <a:t>sales.product_id</a:t>
            </a:r>
            <a:r>
              <a:rPr lang="en-GB" sz="1200" dirty="0">
                <a:latin typeface="Consolas" panose="020B0609020204030204" pitchFamily="49" charset="0"/>
              </a:rPr>
              <a:t> = </a:t>
            </a:r>
            <a:r>
              <a:rPr lang="en-GB" sz="1200" dirty="0" err="1">
                <a:latin typeface="Consolas" panose="020B0609020204030204" pitchFamily="49" charset="0"/>
              </a:rPr>
              <a:t>products.Product_ID</a:t>
            </a:r>
            <a:endParaRPr lang="en-GB" sz="1200" dirty="0">
              <a:latin typeface="Consolas" panose="020B0609020204030204" pitchFamily="49" charset="0"/>
            </a:endParaRPr>
          </a:p>
          <a:p>
            <a:r>
              <a:rPr lang="en-GB" sz="1200" dirty="0">
                <a:latin typeface="Consolas" panose="020B0609020204030204" pitchFamily="49" charset="0"/>
              </a:rPr>
              <a:t>GROUP BY SALES_MONTH ORDER BY TOTAL_REVENUE DESC;</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2987FBA7-59E8-4088-9310-74ADEC68C2AE}"/>
              </a:ext>
            </a:extLst>
          </p:cNvPr>
          <p:cNvSpPr/>
          <p:nvPr/>
        </p:nvSpPr>
        <p:spPr>
          <a:xfrm>
            <a:off x="6286500" y="1841499"/>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595D2B8A-7630-42BA-9E78-381785F83B7F}"/>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This report shows monthly sales trends, highlighting which months generate the highest revenue and average earnings.</a:t>
            </a:r>
            <a:endParaRPr lang="en-IN" sz="2000" dirty="0"/>
          </a:p>
        </p:txBody>
      </p:sp>
      <p:pic>
        <p:nvPicPr>
          <p:cNvPr id="7" name="Picture 6">
            <a:extLst>
              <a:ext uri="{FF2B5EF4-FFF2-40B4-BE49-F238E27FC236}">
                <a16:creationId xmlns:a16="http://schemas.microsoft.com/office/drawing/2014/main" id="{C3238EA1-788F-49B5-A5D9-D464F273DD99}"/>
              </a:ext>
            </a:extLst>
          </p:cNvPr>
          <p:cNvPicPr>
            <a:picLocks noChangeAspect="1"/>
          </p:cNvPicPr>
          <p:nvPr/>
        </p:nvPicPr>
        <p:blipFill>
          <a:blip r:embed="rId2"/>
          <a:stretch>
            <a:fillRect/>
          </a:stretch>
        </p:blipFill>
        <p:spPr>
          <a:xfrm>
            <a:off x="7176398" y="1997274"/>
            <a:ext cx="3843055" cy="2863452"/>
          </a:xfrm>
          <a:prstGeom prst="rect">
            <a:avLst/>
          </a:prstGeom>
        </p:spPr>
      </p:pic>
    </p:spTree>
    <p:extLst>
      <p:ext uri="{BB962C8B-B14F-4D97-AF65-F5344CB8AC3E}">
        <p14:creationId xmlns:p14="http://schemas.microsoft.com/office/powerpoint/2010/main" val="12024911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407226-D236-459A-8991-CA48ED84075E}"/>
              </a:ext>
            </a:extLst>
          </p:cNvPr>
          <p:cNvSpPr>
            <a:spLocks noGrp="1"/>
          </p:cNvSpPr>
          <p:nvPr>
            <p:ph type="title"/>
          </p:nvPr>
        </p:nvSpPr>
        <p:spPr>
          <a:xfrm>
            <a:off x="1640156" y="382082"/>
            <a:ext cx="8911687" cy="1280890"/>
          </a:xfrm>
        </p:spPr>
        <p:txBody>
          <a:bodyPr/>
          <a:lstStyle/>
          <a:p>
            <a:r>
              <a:rPr lang="en-GB" dirty="0"/>
              <a:t>04. Find the average selling price per category and compare across stores.</a:t>
            </a:r>
            <a:endParaRPr lang="en-IN" dirty="0"/>
          </a:p>
        </p:txBody>
      </p:sp>
      <p:sp>
        <p:nvSpPr>
          <p:cNvPr id="3" name="TextBox 2">
            <a:extLst>
              <a:ext uri="{FF2B5EF4-FFF2-40B4-BE49-F238E27FC236}">
                <a16:creationId xmlns:a16="http://schemas.microsoft.com/office/drawing/2014/main" id="{33E2CDB4-60DE-4B25-B460-4C74D9A00BBC}"/>
              </a:ext>
            </a:extLst>
          </p:cNvPr>
          <p:cNvSpPr txBox="1"/>
          <p:nvPr/>
        </p:nvSpPr>
        <p:spPr>
          <a:xfrm>
            <a:off x="381000" y="2828835"/>
            <a:ext cx="5715000" cy="1200329"/>
          </a:xfrm>
          <a:prstGeom prst="rect">
            <a:avLst/>
          </a:prstGeom>
          <a:solidFill>
            <a:srgbClr val="F0F0F0"/>
          </a:solidFill>
        </p:spPr>
        <p:txBody>
          <a:bodyPr vert="horz" wrap="square" rtlCol="0">
            <a:spAutoFit/>
          </a:bodyPr>
          <a:lstStyle/>
          <a:p>
            <a:r>
              <a:rPr lang="en-IN" sz="1200" dirty="0">
                <a:latin typeface="Consolas" panose="020B0609020204030204" pitchFamily="49" charset="0"/>
              </a:rPr>
              <a:t>SQL Query:</a:t>
            </a:r>
          </a:p>
          <a:p>
            <a:r>
              <a:rPr lang="en-IN" sz="1200" dirty="0">
                <a:latin typeface="Consolas" panose="020B0609020204030204" pitchFamily="49" charset="0"/>
              </a:rPr>
              <a:t>SELECT </a:t>
            </a:r>
            <a:r>
              <a:rPr lang="en-IN" sz="1200" dirty="0" err="1">
                <a:latin typeface="Consolas" panose="020B0609020204030204" pitchFamily="49" charset="0"/>
              </a:rPr>
              <a:t>products.Category_ID</a:t>
            </a:r>
            <a:r>
              <a:rPr lang="en-IN" sz="1200" dirty="0">
                <a:latin typeface="Consolas" panose="020B0609020204030204" pitchFamily="49" charset="0"/>
              </a:rPr>
              <a:t> AS CATEGORY, </a:t>
            </a:r>
            <a:r>
              <a:rPr lang="en-IN" sz="1200" dirty="0" err="1">
                <a:latin typeface="Consolas" panose="020B0609020204030204" pitchFamily="49" charset="0"/>
              </a:rPr>
              <a:t>sales.store_id</a:t>
            </a:r>
            <a:r>
              <a:rPr lang="en-IN" sz="1200" dirty="0">
                <a:latin typeface="Consolas" panose="020B0609020204030204" pitchFamily="49" charset="0"/>
              </a:rPr>
              <a:t> AS STORE, </a:t>
            </a:r>
          </a:p>
          <a:p>
            <a:r>
              <a:rPr lang="en-IN" sz="1200" dirty="0">
                <a:latin typeface="Consolas" panose="020B0609020204030204" pitchFamily="49" charset="0"/>
              </a:rPr>
              <a:t>AVG(</a:t>
            </a:r>
            <a:r>
              <a:rPr lang="en-IN" sz="1200" dirty="0" err="1">
                <a:latin typeface="Consolas" panose="020B0609020204030204" pitchFamily="49" charset="0"/>
              </a:rPr>
              <a:t>sales.quantity</a:t>
            </a:r>
            <a:r>
              <a:rPr lang="en-IN" sz="1200" dirty="0">
                <a:latin typeface="Consolas" panose="020B0609020204030204" pitchFamily="49" charset="0"/>
              </a:rPr>
              <a:t> * </a:t>
            </a:r>
            <a:r>
              <a:rPr lang="en-IN" sz="1200" dirty="0" err="1">
                <a:latin typeface="Consolas" panose="020B0609020204030204" pitchFamily="49" charset="0"/>
              </a:rPr>
              <a:t>products.Price</a:t>
            </a:r>
            <a:r>
              <a:rPr lang="en-IN" sz="1200" dirty="0">
                <a:latin typeface="Consolas" panose="020B0609020204030204" pitchFamily="49" charset="0"/>
              </a:rPr>
              <a:t>) AS AVG_SALES</a:t>
            </a:r>
          </a:p>
          <a:p>
            <a:r>
              <a:rPr lang="en-IN" sz="1200" dirty="0">
                <a:latin typeface="Consolas" panose="020B0609020204030204" pitchFamily="49" charset="0"/>
              </a:rPr>
              <a:t>FROM SALES JOIN products ON </a:t>
            </a:r>
            <a:r>
              <a:rPr lang="en-IN" sz="1200" dirty="0" err="1">
                <a:latin typeface="Consolas" panose="020B0609020204030204" pitchFamily="49" charset="0"/>
              </a:rPr>
              <a:t>sales.product_id</a:t>
            </a:r>
            <a:r>
              <a:rPr lang="en-IN" sz="1200" dirty="0">
                <a:latin typeface="Consolas" panose="020B0609020204030204" pitchFamily="49" charset="0"/>
              </a:rPr>
              <a:t> = </a:t>
            </a:r>
            <a:r>
              <a:rPr lang="en-IN" sz="1200" dirty="0" err="1">
                <a:latin typeface="Consolas" panose="020B0609020204030204" pitchFamily="49" charset="0"/>
              </a:rPr>
              <a:t>products.Product_ID</a:t>
            </a:r>
            <a:endParaRPr lang="en-IN" sz="1200" dirty="0">
              <a:latin typeface="Consolas" panose="020B0609020204030204" pitchFamily="49" charset="0"/>
            </a:endParaRPr>
          </a:p>
          <a:p>
            <a:r>
              <a:rPr lang="en-IN" sz="1200" dirty="0">
                <a:latin typeface="Consolas" panose="020B0609020204030204" pitchFamily="49" charset="0"/>
              </a:rPr>
              <a:t>GROUP BY CATEGORY, STORE ORDER BY CATEGORY, STORE DESC;</a:t>
            </a:r>
          </a:p>
        </p:txBody>
      </p:sp>
      <p:sp>
        <p:nvSpPr>
          <p:cNvPr id="4" name="Rectangle 3">
            <a:extLst>
              <a:ext uri="{FF2B5EF4-FFF2-40B4-BE49-F238E27FC236}">
                <a16:creationId xmlns:a16="http://schemas.microsoft.com/office/drawing/2014/main" id="{F71FF3CD-AC75-48FA-9679-FA5F54D1AA28}"/>
              </a:ext>
            </a:extLst>
          </p:cNvPr>
          <p:cNvSpPr/>
          <p:nvPr/>
        </p:nvSpPr>
        <p:spPr>
          <a:xfrm>
            <a:off x="6286500" y="1841499"/>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9CD0417F-35C5-4140-B128-99D508871C86}"/>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This report shows the average sales value by category and store, helping identify which product groups perform best in each location.</a:t>
            </a:r>
            <a:endParaRPr lang="en-IN" sz="2000" dirty="0"/>
          </a:p>
        </p:txBody>
      </p:sp>
      <p:pic>
        <p:nvPicPr>
          <p:cNvPr id="7" name="Picture 6">
            <a:extLst>
              <a:ext uri="{FF2B5EF4-FFF2-40B4-BE49-F238E27FC236}">
                <a16:creationId xmlns:a16="http://schemas.microsoft.com/office/drawing/2014/main" id="{8C177A38-103B-46AE-B265-7987F52B68ED}"/>
              </a:ext>
            </a:extLst>
          </p:cNvPr>
          <p:cNvPicPr>
            <a:picLocks noChangeAspect="1"/>
          </p:cNvPicPr>
          <p:nvPr/>
        </p:nvPicPr>
        <p:blipFill>
          <a:blip r:embed="rId2"/>
          <a:stretch>
            <a:fillRect/>
          </a:stretch>
        </p:blipFill>
        <p:spPr>
          <a:xfrm>
            <a:off x="7830975" y="2187689"/>
            <a:ext cx="2339393" cy="2482621"/>
          </a:xfrm>
          <a:prstGeom prst="rect">
            <a:avLst/>
          </a:prstGeom>
        </p:spPr>
      </p:pic>
    </p:spTree>
    <p:extLst>
      <p:ext uri="{BB962C8B-B14F-4D97-AF65-F5344CB8AC3E}">
        <p14:creationId xmlns:p14="http://schemas.microsoft.com/office/powerpoint/2010/main" val="2641107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25DA9-0D1A-41AD-BAD7-7117737C9A18}"/>
              </a:ext>
            </a:extLst>
          </p:cNvPr>
          <p:cNvSpPr>
            <a:spLocks noGrp="1"/>
          </p:cNvSpPr>
          <p:nvPr>
            <p:ph type="title"/>
          </p:nvPr>
        </p:nvSpPr>
        <p:spPr>
          <a:xfrm>
            <a:off x="1640156" y="312055"/>
            <a:ext cx="8911687" cy="1280890"/>
          </a:xfrm>
        </p:spPr>
        <p:txBody>
          <a:bodyPr/>
          <a:lstStyle/>
          <a:p>
            <a:r>
              <a:rPr lang="en-GB" dirty="0"/>
              <a:t>05. Determine the most profitable store based on total revenue.</a:t>
            </a:r>
            <a:endParaRPr lang="en-IN" dirty="0"/>
          </a:p>
        </p:txBody>
      </p:sp>
      <p:sp>
        <p:nvSpPr>
          <p:cNvPr id="3" name="TextBox 2">
            <a:extLst>
              <a:ext uri="{FF2B5EF4-FFF2-40B4-BE49-F238E27FC236}">
                <a16:creationId xmlns:a16="http://schemas.microsoft.com/office/drawing/2014/main" id="{468B0D43-855B-4FEA-902D-004BD85801A6}"/>
              </a:ext>
            </a:extLst>
          </p:cNvPr>
          <p:cNvSpPr txBox="1"/>
          <p:nvPr/>
        </p:nvSpPr>
        <p:spPr>
          <a:xfrm>
            <a:off x="380999" y="2736502"/>
            <a:ext cx="5715000" cy="1384995"/>
          </a:xfrm>
          <a:prstGeom prst="rect">
            <a:avLst/>
          </a:prstGeom>
          <a:solidFill>
            <a:srgbClr val="F0F0F0"/>
          </a:solidFill>
        </p:spPr>
        <p:txBody>
          <a:bodyPr vert="horz" wrap="square" rtlCol="0">
            <a:spAutoFit/>
          </a:bodyPr>
          <a:lstStyle/>
          <a:p>
            <a:r>
              <a:rPr lang="en-IN" sz="1200" dirty="0">
                <a:latin typeface="Consolas" panose="020B0609020204030204" pitchFamily="49" charset="0"/>
              </a:rPr>
              <a:t>SQL Query:</a:t>
            </a:r>
          </a:p>
          <a:p>
            <a:r>
              <a:rPr lang="en-IN" sz="1200" dirty="0">
                <a:latin typeface="Consolas" panose="020B0609020204030204" pitchFamily="49" charset="0"/>
              </a:rPr>
              <a:t>SELECT </a:t>
            </a:r>
            <a:r>
              <a:rPr lang="en-IN" sz="1200" dirty="0" err="1">
                <a:latin typeface="Consolas" panose="020B0609020204030204" pitchFamily="49" charset="0"/>
              </a:rPr>
              <a:t>stores.Store_Name</a:t>
            </a:r>
            <a:r>
              <a:rPr lang="en-IN" sz="1200" dirty="0">
                <a:latin typeface="Consolas" panose="020B0609020204030204" pitchFamily="49" charset="0"/>
              </a:rPr>
              <a:t> AS STORE_NAME, SUM(</a:t>
            </a:r>
            <a:r>
              <a:rPr lang="en-IN" sz="1200" dirty="0" err="1">
                <a:latin typeface="Consolas" panose="020B0609020204030204" pitchFamily="49" charset="0"/>
              </a:rPr>
              <a:t>sales.quantity</a:t>
            </a:r>
            <a:r>
              <a:rPr lang="en-IN" sz="1200" dirty="0">
                <a:latin typeface="Consolas" panose="020B0609020204030204" pitchFamily="49" charset="0"/>
              </a:rPr>
              <a:t> * </a:t>
            </a:r>
            <a:r>
              <a:rPr lang="en-IN" sz="1200" dirty="0" err="1">
                <a:latin typeface="Consolas" panose="020B0609020204030204" pitchFamily="49" charset="0"/>
              </a:rPr>
              <a:t>products.Price</a:t>
            </a:r>
            <a:r>
              <a:rPr lang="en-IN" sz="1200" dirty="0">
                <a:latin typeface="Consolas" panose="020B0609020204030204" pitchFamily="49" charset="0"/>
              </a:rPr>
              <a:t> ) AS TOTAL_REVENUE</a:t>
            </a:r>
          </a:p>
          <a:p>
            <a:r>
              <a:rPr lang="en-IN" sz="1200" dirty="0">
                <a:latin typeface="Consolas" panose="020B0609020204030204" pitchFamily="49" charset="0"/>
              </a:rPr>
              <a:t>FROM sales JOIN products ON </a:t>
            </a:r>
            <a:r>
              <a:rPr lang="en-IN" sz="1200" dirty="0" err="1">
                <a:latin typeface="Consolas" panose="020B0609020204030204" pitchFamily="49" charset="0"/>
              </a:rPr>
              <a:t>sales.product_id</a:t>
            </a:r>
            <a:r>
              <a:rPr lang="en-IN" sz="1200" dirty="0">
                <a:latin typeface="Consolas" panose="020B0609020204030204" pitchFamily="49" charset="0"/>
              </a:rPr>
              <a:t> = </a:t>
            </a:r>
            <a:r>
              <a:rPr lang="en-IN" sz="1200" dirty="0" err="1">
                <a:latin typeface="Consolas" panose="020B0609020204030204" pitchFamily="49" charset="0"/>
              </a:rPr>
              <a:t>products.Product_ID</a:t>
            </a:r>
            <a:endParaRPr lang="en-IN" sz="1200" dirty="0">
              <a:latin typeface="Consolas" panose="020B0609020204030204" pitchFamily="49" charset="0"/>
            </a:endParaRPr>
          </a:p>
          <a:p>
            <a:r>
              <a:rPr lang="en-IN" sz="1200" dirty="0">
                <a:latin typeface="Consolas" panose="020B0609020204030204" pitchFamily="49" charset="0"/>
              </a:rPr>
              <a:t>JOIN stores ON </a:t>
            </a:r>
            <a:r>
              <a:rPr lang="en-IN" sz="1200" dirty="0" err="1">
                <a:latin typeface="Consolas" panose="020B0609020204030204" pitchFamily="49" charset="0"/>
              </a:rPr>
              <a:t>sales.store_id</a:t>
            </a:r>
            <a:r>
              <a:rPr lang="en-IN" sz="1200" dirty="0">
                <a:latin typeface="Consolas" panose="020B0609020204030204" pitchFamily="49" charset="0"/>
              </a:rPr>
              <a:t> = </a:t>
            </a:r>
            <a:r>
              <a:rPr lang="en-IN" sz="1200" dirty="0" err="1">
                <a:latin typeface="Consolas" panose="020B0609020204030204" pitchFamily="49" charset="0"/>
              </a:rPr>
              <a:t>stores.Store_ID</a:t>
            </a:r>
            <a:endParaRPr lang="en-IN" sz="1200" dirty="0">
              <a:latin typeface="Consolas" panose="020B0609020204030204" pitchFamily="49" charset="0"/>
            </a:endParaRPr>
          </a:p>
          <a:p>
            <a:r>
              <a:rPr lang="en-IN" sz="1200" dirty="0">
                <a:latin typeface="Consolas" panose="020B0609020204030204" pitchFamily="49" charset="0"/>
              </a:rPr>
              <a:t>GROUP BY STORE_NAME ORDER BY TOTAL_REVENUE DESC;</a:t>
            </a:r>
          </a:p>
        </p:txBody>
      </p:sp>
      <p:sp>
        <p:nvSpPr>
          <p:cNvPr id="4" name="Rectangle 3">
            <a:extLst>
              <a:ext uri="{FF2B5EF4-FFF2-40B4-BE49-F238E27FC236}">
                <a16:creationId xmlns:a16="http://schemas.microsoft.com/office/drawing/2014/main" id="{A9058848-4709-4551-A367-F5C2CBD4CE8B}"/>
              </a:ext>
            </a:extLst>
          </p:cNvPr>
          <p:cNvSpPr/>
          <p:nvPr/>
        </p:nvSpPr>
        <p:spPr>
          <a:xfrm>
            <a:off x="6286500" y="1905000"/>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DC290330-8CE9-44B0-BFB8-E6A3A79D43D9}"/>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This report ranks stores by total revenue, highlighting the top performers driving the highest sales.</a:t>
            </a:r>
            <a:endParaRPr lang="en-IN" sz="2000" dirty="0"/>
          </a:p>
        </p:txBody>
      </p:sp>
      <p:pic>
        <p:nvPicPr>
          <p:cNvPr id="7" name="Picture 6">
            <a:extLst>
              <a:ext uri="{FF2B5EF4-FFF2-40B4-BE49-F238E27FC236}">
                <a16:creationId xmlns:a16="http://schemas.microsoft.com/office/drawing/2014/main" id="{D9D0598B-C607-45CB-B58F-A17BFAA14FBB}"/>
              </a:ext>
            </a:extLst>
          </p:cNvPr>
          <p:cNvPicPr>
            <a:picLocks noChangeAspect="1"/>
          </p:cNvPicPr>
          <p:nvPr/>
        </p:nvPicPr>
        <p:blipFill>
          <a:blip r:embed="rId2"/>
          <a:stretch>
            <a:fillRect/>
          </a:stretch>
        </p:blipFill>
        <p:spPr>
          <a:xfrm>
            <a:off x="7836586" y="2138223"/>
            <a:ext cx="2511652" cy="2629722"/>
          </a:xfrm>
          <a:prstGeom prst="rect">
            <a:avLst/>
          </a:prstGeom>
        </p:spPr>
      </p:pic>
    </p:spTree>
    <p:extLst>
      <p:ext uri="{BB962C8B-B14F-4D97-AF65-F5344CB8AC3E}">
        <p14:creationId xmlns:p14="http://schemas.microsoft.com/office/powerpoint/2010/main" val="3841289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171BB8-E4DA-466A-B6B1-4B3258AB94BA}"/>
              </a:ext>
            </a:extLst>
          </p:cNvPr>
          <p:cNvSpPr>
            <a:spLocks noGrp="1"/>
          </p:cNvSpPr>
          <p:nvPr>
            <p:ph type="title"/>
          </p:nvPr>
        </p:nvSpPr>
        <p:spPr>
          <a:xfrm>
            <a:off x="1640156" y="344191"/>
            <a:ext cx="8911687" cy="1280890"/>
          </a:xfrm>
        </p:spPr>
        <p:txBody>
          <a:bodyPr/>
          <a:lstStyle/>
          <a:p>
            <a:r>
              <a:rPr lang="en-GB" dirty="0"/>
              <a:t>06. List products that have never been sold since their launch.</a:t>
            </a:r>
            <a:endParaRPr lang="en-IN" dirty="0"/>
          </a:p>
        </p:txBody>
      </p:sp>
      <p:sp>
        <p:nvSpPr>
          <p:cNvPr id="3" name="TextBox 2">
            <a:extLst>
              <a:ext uri="{FF2B5EF4-FFF2-40B4-BE49-F238E27FC236}">
                <a16:creationId xmlns:a16="http://schemas.microsoft.com/office/drawing/2014/main" id="{8ED3472D-3784-42EC-AAA3-6C06277E915A}"/>
              </a:ext>
            </a:extLst>
          </p:cNvPr>
          <p:cNvSpPr txBox="1"/>
          <p:nvPr/>
        </p:nvSpPr>
        <p:spPr>
          <a:xfrm>
            <a:off x="381000" y="3013501"/>
            <a:ext cx="5715000" cy="830997"/>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SELECT </a:t>
            </a:r>
            <a:r>
              <a:rPr lang="en-GB" sz="1200" dirty="0" err="1">
                <a:latin typeface="Consolas" panose="020B0609020204030204" pitchFamily="49" charset="0"/>
              </a:rPr>
              <a:t>products.Product_Name</a:t>
            </a:r>
            <a:r>
              <a:rPr lang="en-GB" sz="1200" dirty="0">
                <a:latin typeface="Consolas" panose="020B0609020204030204" pitchFamily="49" charset="0"/>
              </a:rPr>
              <a:t> FROM products LEFT JOIN sales </a:t>
            </a:r>
          </a:p>
          <a:p>
            <a:r>
              <a:rPr lang="en-GB" sz="1200" dirty="0">
                <a:latin typeface="Consolas" panose="020B0609020204030204" pitchFamily="49" charset="0"/>
              </a:rPr>
              <a:t>ON </a:t>
            </a:r>
            <a:r>
              <a:rPr lang="en-GB" sz="1200" dirty="0" err="1">
                <a:latin typeface="Consolas" panose="020B0609020204030204" pitchFamily="49" charset="0"/>
              </a:rPr>
              <a:t>products.Product_ID</a:t>
            </a:r>
            <a:r>
              <a:rPr lang="en-GB" sz="1200" dirty="0">
                <a:latin typeface="Consolas" panose="020B0609020204030204" pitchFamily="49" charset="0"/>
              </a:rPr>
              <a:t> = </a:t>
            </a:r>
            <a:r>
              <a:rPr lang="en-GB" sz="1200" dirty="0" err="1">
                <a:latin typeface="Consolas" panose="020B0609020204030204" pitchFamily="49" charset="0"/>
              </a:rPr>
              <a:t>sales.product_id</a:t>
            </a:r>
            <a:r>
              <a:rPr lang="en-GB" sz="1200" dirty="0">
                <a:latin typeface="Consolas" panose="020B0609020204030204" pitchFamily="49" charset="0"/>
              </a:rPr>
              <a:t> </a:t>
            </a:r>
          </a:p>
          <a:p>
            <a:r>
              <a:rPr lang="en-GB" sz="1200" dirty="0">
                <a:latin typeface="Consolas" panose="020B0609020204030204" pitchFamily="49" charset="0"/>
              </a:rPr>
              <a:t>WHERE </a:t>
            </a:r>
            <a:r>
              <a:rPr lang="en-GB" sz="1200" dirty="0" err="1">
                <a:latin typeface="Consolas" panose="020B0609020204030204" pitchFamily="49" charset="0"/>
              </a:rPr>
              <a:t>sales.product_id</a:t>
            </a:r>
            <a:r>
              <a:rPr lang="en-GB" sz="1200" dirty="0">
                <a:latin typeface="Consolas" panose="020B0609020204030204" pitchFamily="49" charset="0"/>
              </a:rPr>
              <a:t> IS NULL;</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48720B43-BF92-444D-94BC-8BA207ABB489}"/>
              </a:ext>
            </a:extLst>
          </p:cNvPr>
          <p:cNvSpPr/>
          <p:nvPr/>
        </p:nvSpPr>
        <p:spPr>
          <a:xfrm>
            <a:off x="6286500" y="1841499"/>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b="1" dirty="0"/>
              <a:t>nil</a:t>
            </a:r>
          </a:p>
        </p:txBody>
      </p:sp>
      <p:sp>
        <p:nvSpPr>
          <p:cNvPr id="5" name="TextBox 4">
            <a:extLst>
              <a:ext uri="{FF2B5EF4-FFF2-40B4-BE49-F238E27FC236}">
                <a16:creationId xmlns:a16="http://schemas.microsoft.com/office/drawing/2014/main" id="{B63443BA-0D51-4F52-A2AB-55DD462911C9}"/>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This report highlights products with zero sales, </a:t>
            </a:r>
            <a:r>
              <a:rPr lang="en-GB" sz="2000" dirty="0" err="1"/>
              <a:t>signaling</a:t>
            </a:r>
            <a:r>
              <a:rPr lang="en-GB" sz="2000" dirty="0"/>
              <a:t> items that may need promotion or removal.</a:t>
            </a:r>
            <a:endParaRPr lang="en-IN" sz="2000" dirty="0"/>
          </a:p>
        </p:txBody>
      </p:sp>
    </p:spTree>
    <p:extLst>
      <p:ext uri="{BB962C8B-B14F-4D97-AF65-F5344CB8AC3E}">
        <p14:creationId xmlns:p14="http://schemas.microsoft.com/office/powerpoint/2010/main" val="87305702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132DC-ED77-4D0C-B75C-C52072DD3480}"/>
              </a:ext>
            </a:extLst>
          </p:cNvPr>
          <p:cNvSpPr>
            <a:spLocks noGrp="1"/>
          </p:cNvSpPr>
          <p:nvPr>
            <p:ph type="title"/>
          </p:nvPr>
        </p:nvSpPr>
        <p:spPr>
          <a:xfrm>
            <a:off x="1640156" y="340565"/>
            <a:ext cx="8911687" cy="1280890"/>
          </a:xfrm>
        </p:spPr>
        <p:txBody>
          <a:bodyPr/>
          <a:lstStyle/>
          <a:p>
            <a:r>
              <a:rPr lang="en-GB" dirty="0"/>
              <a:t>07. Find the fastest-growing category in terms of sales quantity.</a:t>
            </a:r>
            <a:endParaRPr lang="en-IN" dirty="0"/>
          </a:p>
        </p:txBody>
      </p:sp>
      <p:sp>
        <p:nvSpPr>
          <p:cNvPr id="3" name="TextBox 2">
            <a:extLst>
              <a:ext uri="{FF2B5EF4-FFF2-40B4-BE49-F238E27FC236}">
                <a16:creationId xmlns:a16="http://schemas.microsoft.com/office/drawing/2014/main" id="{CE88D9FB-5D19-43F2-B683-40DB4340390E}"/>
              </a:ext>
            </a:extLst>
          </p:cNvPr>
          <p:cNvSpPr txBox="1"/>
          <p:nvPr/>
        </p:nvSpPr>
        <p:spPr>
          <a:xfrm>
            <a:off x="381000" y="2921168"/>
            <a:ext cx="5715000" cy="1015663"/>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WITH SALES_DETAILS AS (...), GROWTH_DETAILS AS (...) </a:t>
            </a:r>
          </a:p>
          <a:p>
            <a:r>
              <a:rPr lang="en-GB" sz="1200" dirty="0">
                <a:latin typeface="Consolas" panose="020B0609020204030204" pitchFamily="49" charset="0"/>
              </a:rPr>
              <a:t>SELECT *, ( 100 * (QUANTITY - PREVIOUS_MONTH_QUANTITY) / PREVIOUS_MONTH_QUANTITY) AS GROWTH_RATE </a:t>
            </a:r>
          </a:p>
          <a:p>
            <a:r>
              <a:rPr lang="en-GB" sz="1200" dirty="0">
                <a:latin typeface="Consolas" panose="020B0609020204030204" pitchFamily="49" charset="0"/>
              </a:rPr>
              <a:t>FROM GROWTH_DETAILS ORDER BY GROWTH_RATE DESC;</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BF939871-9BB6-438E-A57F-DD56ECBD5408}"/>
              </a:ext>
            </a:extLst>
          </p:cNvPr>
          <p:cNvSpPr/>
          <p:nvPr/>
        </p:nvSpPr>
        <p:spPr>
          <a:xfrm>
            <a:off x="6286500" y="1841499"/>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F94412B1-F927-496A-B142-3641ACE47C6C}"/>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This report shows month‑over‑month growth by category, highlighting which product groups are surging fastest.</a:t>
            </a:r>
            <a:endParaRPr lang="en-IN" sz="2000" dirty="0"/>
          </a:p>
        </p:txBody>
      </p:sp>
      <p:pic>
        <p:nvPicPr>
          <p:cNvPr id="7" name="Picture 6">
            <a:extLst>
              <a:ext uri="{FF2B5EF4-FFF2-40B4-BE49-F238E27FC236}">
                <a16:creationId xmlns:a16="http://schemas.microsoft.com/office/drawing/2014/main" id="{3E029CD1-331E-4D85-A7BC-47C5B520FC11}"/>
              </a:ext>
            </a:extLst>
          </p:cNvPr>
          <p:cNvPicPr>
            <a:picLocks noChangeAspect="1"/>
          </p:cNvPicPr>
          <p:nvPr/>
        </p:nvPicPr>
        <p:blipFill>
          <a:blip r:embed="rId2"/>
          <a:stretch>
            <a:fillRect/>
          </a:stretch>
        </p:blipFill>
        <p:spPr>
          <a:xfrm>
            <a:off x="6609996" y="2049894"/>
            <a:ext cx="5068007" cy="2648320"/>
          </a:xfrm>
          <a:prstGeom prst="rect">
            <a:avLst/>
          </a:prstGeom>
        </p:spPr>
      </p:pic>
    </p:spTree>
    <p:extLst>
      <p:ext uri="{BB962C8B-B14F-4D97-AF65-F5344CB8AC3E}">
        <p14:creationId xmlns:p14="http://schemas.microsoft.com/office/powerpoint/2010/main" val="3715564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3C1E18-CEB4-4EE2-8BF6-EF73E48E0C22}"/>
              </a:ext>
            </a:extLst>
          </p:cNvPr>
          <p:cNvSpPr>
            <a:spLocks noGrp="1"/>
          </p:cNvSpPr>
          <p:nvPr>
            <p:ph type="title"/>
          </p:nvPr>
        </p:nvSpPr>
        <p:spPr>
          <a:xfrm>
            <a:off x="1640156" y="312055"/>
            <a:ext cx="8911687" cy="1280890"/>
          </a:xfrm>
        </p:spPr>
        <p:txBody>
          <a:bodyPr/>
          <a:lstStyle/>
          <a:p>
            <a:r>
              <a:rPr lang="en-GB" dirty="0"/>
              <a:t>08. Identify products with high revenue with low sales quantity.</a:t>
            </a:r>
            <a:endParaRPr lang="en-IN" dirty="0"/>
          </a:p>
        </p:txBody>
      </p:sp>
      <p:sp>
        <p:nvSpPr>
          <p:cNvPr id="3" name="TextBox 2">
            <a:extLst>
              <a:ext uri="{FF2B5EF4-FFF2-40B4-BE49-F238E27FC236}">
                <a16:creationId xmlns:a16="http://schemas.microsoft.com/office/drawing/2014/main" id="{A9B8295A-2634-4585-B9DC-01ECBEE6125C}"/>
              </a:ext>
            </a:extLst>
          </p:cNvPr>
          <p:cNvSpPr txBox="1"/>
          <p:nvPr/>
        </p:nvSpPr>
        <p:spPr>
          <a:xfrm>
            <a:off x="380999" y="2921168"/>
            <a:ext cx="5715000" cy="1015663"/>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WITH SALES_QTY AS (...), AVERAGES AS (...) </a:t>
            </a:r>
          </a:p>
          <a:p>
            <a:r>
              <a:rPr lang="en-GB" sz="1200" dirty="0">
                <a:latin typeface="Consolas" panose="020B0609020204030204" pitchFamily="49" charset="0"/>
              </a:rPr>
              <a:t>SELECT PRODUCT_ID, QTY, REVENUE FROM SALES_QTY CROSS JOIN AVERAGES </a:t>
            </a:r>
          </a:p>
          <a:p>
            <a:r>
              <a:rPr lang="en-GB" sz="1200" dirty="0">
                <a:latin typeface="Consolas" panose="020B0609020204030204" pitchFamily="49" charset="0"/>
              </a:rPr>
              <a:t>WHERE QTY &lt; AVG_QTY AND REVENUE &gt; AVG_REVENUE ORDER BY REVENUE;</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BFDF5A60-D076-41C0-948D-051BA9411DCC}"/>
              </a:ext>
            </a:extLst>
          </p:cNvPr>
          <p:cNvSpPr/>
          <p:nvPr/>
        </p:nvSpPr>
        <p:spPr>
          <a:xfrm>
            <a:off x="6286500" y="1841500"/>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E061DC74-DDCF-4817-9721-D4498E1C62BF}"/>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These products sell fewer units than average but generate higher revenue, showing strong premium demand.</a:t>
            </a:r>
            <a:endParaRPr lang="en-IN" sz="2000" dirty="0"/>
          </a:p>
        </p:txBody>
      </p:sp>
      <p:pic>
        <p:nvPicPr>
          <p:cNvPr id="7" name="Picture 6">
            <a:extLst>
              <a:ext uri="{FF2B5EF4-FFF2-40B4-BE49-F238E27FC236}">
                <a16:creationId xmlns:a16="http://schemas.microsoft.com/office/drawing/2014/main" id="{B5CCD035-DAD3-49AB-86A3-C2DDB07FA20F}"/>
              </a:ext>
            </a:extLst>
          </p:cNvPr>
          <p:cNvPicPr>
            <a:picLocks noChangeAspect="1"/>
          </p:cNvPicPr>
          <p:nvPr/>
        </p:nvPicPr>
        <p:blipFill>
          <a:blip r:embed="rId2"/>
          <a:stretch>
            <a:fillRect/>
          </a:stretch>
        </p:blipFill>
        <p:spPr>
          <a:xfrm>
            <a:off x="7286059" y="2035543"/>
            <a:ext cx="3715882" cy="2786911"/>
          </a:xfrm>
          <a:prstGeom prst="rect">
            <a:avLst/>
          </a:prstGeom>
        </p:spPr>
      </p:pic>
    </p:spTree>
    <p:extLst>
      <p:ext uri="{BB962C8B-B14F-4D97-AF65-F5344CB8AC3E}">
        <p14:creationId xmlns:p14="http://schemas.microsoft.com/office/powerpoint/2010/main" val="2113212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B8F0A7-180A-43D2-B156-4296593B7E28}"/>
              </a:ext>
            </a:extLst>
          </p:cNvPr>
          <p:cNvSpPr>
            <a:spLocks noGrp="1"/>
          </p:cNvSpPr>
          <p:nvPr>
            <p:ph type="title"/>
          </p:nvPr>
        </p:nvSpPr>
        <p:spPr>
          <a:xfrm>
            <a:off x="1640156" y="382082"/>
            <a:ext cx="8911687" cy="1280890"/>
          </a:xfrm>
        </p:spPr>
        <p:txBody>
          <a:bodyPr>
            <a:normAutofit fontScale="90000"/>
          </a:bodyPr>
          <a:lstStyle/>
          <a:p>
            <a:r>
              <a:rPr lang="en-GB" dirty="0"/>
              <a:t>09. Compare the average warranty claims per category to spot quality issues.</a:t>
            </a:r>
            <a:endParaRPr lang="en-IN" dirty="0"/>
          </a:p>
        </p:txBody>
      </p:sp>
      <p:sp>
        <p:nvSpPr>
          <p:cNvPr id="3" name="TextBox 2">
            <a:extLst>
              <a:ext uri="{FF2B5EF4-FFF2-40B4-BE49-F238E27FC236}">
                <a16:creationId xmlns:a16="http://schemas.microsoft.com/office/drawing/2014/main" id="{20AF07C1-F3C6-4FCA-9BF7-A6696AF88433}"/>
              </a:ext>
            </a:extLst>
          </p:cNvPr>
          <p:cNvSpPr txBox="1"/>
          <p:nvPr/>
        </p:nvSpPr>
        <p:spPr>
          <a:xfrm>
            <a:off x="381000" y="2828835"/>
            <a:ext cx="5715000" cy="1200329"/>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WITH CLAIM_DETAILS AS (...) </a:t>
            </a:r>
          </a:p>
          <a:p>
            <a:r>
              <a:rPr lang="en-GB" sz="1200" dirty="0">
                <a:latin typeface="Consolas" panose="020B0609020204030204" pitchFamily="49" charset="0"/>
              </a:rPr>
              <a:t>SELECT CLAIM_DETAILS.CATEGORY_ID, AVG(CLAIM_DETAILS.CLAIM_COUNT) AS AVG_CLAIM_COUNT </a:t>
            </a:r>
          </a:p>
          <a:p>
            <a:r>
              <a:rPr lang="en-GB" sz="1200" dirty="0">
                <a:latin typeface="Consolas" panose="020B0609020204030204" pitchFamily="49" charset="0"/>
              </a:rPr>
              <a:t>FROM CLAIM_DETAILS GROUP BY CATEGORY_ID, CATEGORY_NAME ORDER BY AVG_CLAIM_COUNT DESC;</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90A2AB9D-69A5-4269-8EBF-2D540E62530D}"/>
              </a:ext>
            </a:extLst>
          </p:cNvPr>
          <p:cNvSpPr/>
          <p:nvPr/>
        </p:nvSpPr>
        <p:spPr>
          <a:xfrm>
            <a:off x="6286500" y="1841499"/>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A1A4E8BF-3CAF-47ED-8FE8-C8A73C692C49}"/>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This report shows average warranty claims per category, highlighting which product groups face more issues.</a:t>
            </a:r>
            <a:endParaRPr lang="en-IN" sz="2000" dirty="0"/>
          </a:p>
        </p:txBody>
      </p:sp>
      <p:pic>
        <p:nvPicPr>
          <p:cNvPr id="7" name="Picture 6">
            <a:extLst>
              <a:ext uri="{FF2B5EF4-FFF2-40B4-BE49-F238E27FC236}">
                <a16:creationId xmlns:a16="http://schemas.microsoft.com/office/drawing/2014/main" id="{A3CED439-3CFC-4BC8-9340-5649E5AE4ED8}"/>
              </a:ext>
            </a:extLst>
          </p:cNvPr>
          <p:cNvPicPr>
            <a:picLocks noChangeAspect="1"/>
          </p:cNvPicPr>
          <p:nvPr/>
        </p:nvPicPr>
        <p:blipFill>
          <a:blip r:embed="rId2"/>
          <a:stretch>
            <a:fillRect/>
          </a:stretch>
        </p:blipFill>
        <p:spPr>
          <a:xfrm>
            <a:off x="6909006" y="2085083"/>
            <a:ext cx="4379669" cy="2687834"/>
          </a:xfrm>
          <a:prstGeom prst="rect">
            <a:avLst/>
          </a:prstGeom>
        </p:spPr>
      </p:pic>
    </p:spTree>
    <p:extLst>
      <p:ext uri="{BB962C8B-B14F-4D97-AF65-F5344CB8AC3E}">
        <p14:creationId xmlns:p14="http://schemas.microsoft.com/office/powerpoint/2010/main" val="1992343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B9DDB-181A-428D-A0BF-D922C44EAE21}"/>
              </a:ext>
            </a:extLst>
          </p:cNvPr>
          <p:cNvSpPr>
            <a:spLocks noGrp="1"/>
          </p:cNvSpPr>
          <p:nvPr>
            <p:ph type="title"/>
          </p:nvPr>
        </p:nvSpPr>
        <p:spPr>
          <a:xfrm>
            <a:off x="1640156" y="335916"/>
            <a:ext cx="8911687" cy="1280890"/>
          </a:xfrm>
        </p:spPr>
        <p:txBody>
          <a:bodyPr/>
          <a:lstStyle/>
          <a:p>
            <a:r>
              <a:rPr lang="en-GB" dirty="0"/>
              <a:t>10. Find the top 3 categories contributing to overall revenue.</a:t>
            </a:r>
            <a:endParaRPr lang="en-IN" dirty="0"/>
          </a:p>
        </p:txBody>
      </p:sp>
      <p:sp>
        <p:nvSpPr>
          <p:cNvPr id="3" name="TextBox 2">
            <a:extLst>
              <a:ext uri="{FF2B5EF4-FFF2-40B4-BE49-F238E27FC236}">
                <a16:creationId xmlns:a16="http://schemas.microsoft.com/office/drawing/2014/main" id="{9347A1D5-3135-4C90-A1B2-D6DCF40E2A2A}"/>
              </a:ext>
            </a:extLst>
          </p:cNvPr>
          <p:cNvSpPr txBox="1"/>
          <p:nvPr/>
        </p:nvSpPr>
        <p:spPr>
          <a:xfrm>
            <a:off x="381000" y="2736502"/>
            <a:ext cx="5715000" cy="1384995"/>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SELECT </a:t>
            </a:r>
            <a:r>
              <a:rPr lang="en-GB" sz="1200" dirty="0" err="1">
                <a:latin typeface="Consolas" panose="020B0609020204030204" pitchFamily="49" charset="0"/>
              </a:rPr>
              <a:t>category.category_name</a:t>
            </a:r>
            <a:r>
              <a:rPr lang="en-GB" sz="1200" dirty="0">
                <a:latin typeface="Consolas" panose="020B0609020204030204" pitchFamily="49" charset="0"/>
              </a:rPr>
              <a:t> AS CATEGORY_NAME, SUM(</a:t>
            </a:r>
            <a:r>
              <a:rPr lang="en-GB" sz="1200" dirty="0" err="1">
                <a:latin typeface="Consolas" panose="020B0609020204030204" pitchFamily="49" charset="0"/>
              </a:rPr>
              <a:t>sales.quantity</a:t>
            </a:r>
            <a:r>
              <a:rPr lang="en-GB" sz="1200" dirty="0">
                <a:latin typeface="Consolas" panose="020B0609020204030204" pitchFamily="49" charset="0"/>
              </a:rPr>
              <a:t> * </a:t>
            </a:r>
            <a:r>
              <a:rPr lang="en-GB" sz="1200" dirty="0" err="1">
                <a:latin typeface="Consolas" panose="020B0609020204030204" pitchFamily="49" charset="0"/>
              </a:rPr>
              <a:t>products.Price</a:t>
            </a:r>
            <a:r>
              <a:rPr lang="en-GB" sz="1200" dirty="0">
                <a:latin typeface="Consolas" panose="020B0609020204030204" pitchFamily="49" charset="0"/>
              </a:rPr>
              <a:t>) AS TOTAL_REVENUE</a:t>
            </a:r>
          </a:p>
          <a:p>
            <a:r>
              <a:rPr lang="en-GB" sz="1200" dirty="0">
                <a:latin typeface="Consolas" panose="020B0609020204030204" pitchFamily="49" charset="0"/>
              </a:rPr>
              <a:t>FROM sales JOIN products ON </a:t>
            </a:r>
            <a:r>
              <a:rPr lang="en-GB" sz="1200" dirty="0" err="1">
                <a:latin typeface="Consolas" panose="020B0609020204030204" pitchFamily="49" charset="0"/>
              </a:rPr>
              <a:t>sales.product_id</a:t>
            </a:r>
            <a:r>
              <a:rPr lang="en-GB" sz="1200" dirty="0">
                <a:latin typeface="Consolas" panose="020B0609020204030204" pitchFamily="49" charset="0"/>
              </a:rPr>
              <a:t> = </a:t>
            </a:r>
            <a:r>
              <a:rPr lang="en-GB" sz="1200" dirty="0" err="1">
                <a:latin typeface="Consolas" panose="020B0609020204030204" pitchFamily="49" charset="0"/>
              </a:rPr>
              <a:t>products.Product_ID</a:t>
            </a:r>
            <a:endParaRPr lang="en-GB" sz="1200" dirty="0">
              <a:latin typeface="Consolas" panose="020B0609020204030204" pitchFamily="49" charset="0"/>
            </a:endParaRPr>
          </a:p>
          <a:p>
            <a:r>
              <a:rPr lang="en-GB" sz="1200" dirty="0">
                <a:latin typeface="Consolas" panose="020B0609020204030204" pitchFamily="49" charset="0"/>
              </a:rPr>
              <a:t>JOIN category ON </a:t>
            </a:r>
            <a:r>
              <a:rPr lang="en-GB" sz="1200" dirty="0" err="1">
                <a:latin typeface="Consolas" panose="020B0609020204030204" pitchFamily="49" charset="0"/>
              </a:rPr>
              <a:t>products.Category_ID</a:t>
            </a:r>
            <a:r>
              <a:rPr lang="en-GB" sz="1200" dirty="0">
                <a:latin typeface="Consolas" panose="020B0609020204030204" pitchFamily="49" charset="0"/>
              </a:rPr>
              <a:t> = </a:t>
            </a:r>
            <a:r>
              <a:rPr lang="en-GB" sz="1200" dirty="0" err="1">
                <a:latin typeface="Consolas" panose="020B0609020204030204" pitchFamily="49" charset="0"/>
              </a:rPr>
              <a:t>category.category_id</a:t>
            </a:r>
            <a:endParaRPr lang="en-GB" sz="1200" dirty="0">
              <a:latin typeface="Consolas" panose="020B0609020204030204" pitchFamily="49" charset="0"/>
            </a:endParaRPr>
          </a:p>
          <a:p>
            <a:r>
              <a:rPr lang="en-GB" sz="1200" dirty="0">
                <a:latin typeface="Consolas" panose="020B0609020204030204" pitchFamily="49" charset="0"/>
              </a:rPr>
              <a:t>GROUP BY CATEGORY_NAME ORDER BY TOTAL_REVENUE DESC LIMIT 3;</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DD6C1936-23BA-4A37-B823-8F448FF9FA98}"/>
              </a:ext>
            </a:extLst>
          </p:cNvPr>
          <p:cNvSpPr/>
          <p:nvPr/>
        </p:nvSpPr>
        <p:spPr>
          <a:xfrm>
            <a:off x="6286500" y="1841499"/>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996BA3C9-B411-469C-957F-755090647745}"/>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Top 3 categories generate the highest revenue, showing where customer demand and profit are strongest.</a:t>
            </a:r>
            <a:endParaRPr lang="en-IN" sz="2000" dirty="0"/>
          </a:p>
        </p:txBody>
      </p:sp>
      <p:pic>
        <p:nvPicPr>
          <p:cNvPr id="7" name="Picture 6">
            <a:extLst>
              <a:ext uri="{FF2B5EF4-FFF2-40B4-BE49-F238E27FC236}">
                <a16:creationId xmlns:a16="http://schemas.microsoft.com/office/drawing/2014/main" id="{C627AA8C-BD82-479B-9CCB-8864234F3002}"/>
              </a:ext>
            </a:extLst>
          </p:cNvPr>
          <p:cNvPicPr>
            <a:picLocks noChangeAspect="1"/>
          </p:cNvPicPr>
          <p:nvPr/>
        </p:nvPicPr>
        <p:blipFill>
          <a:blip r:embed="rId2"/>
          <a:stretch>
            <a:fillRect/>
          </a:stretch>
        </p:blipFill>
        <p:spPr>
          <a:xfrm>
            <a:off x="7078393" y="2733577"/>
            <a:ext cx="4011660" cy="1387920"/>
          </a:xfrm>
          <a:prstGeom prst="rect">
            <a:avLst/>
          </a:prstGeom>
        </p:spPr>
      </p:pic>
    </p:spTree>
    <p:extLst>
      <p:ext uri="{BB962C8B-B14F-4D97-AF65-F5344CB8AC3E}">
        <p14:creationId xmlns:p14="http://schemas.microsoft.com/office/powerpoint/2010/main" val="19747044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78EC3E-56A6-4DCA-94DC-4CBBDAD25922}"/>
              </a:ext>
            </a:extLst>
          </p:cNvPr>
          <p:cNvSpPr>
            <a:spLocks noGrp="1"/>
          </p:cNvSpPr>
          <p:nvPr>
            <p:ph type="title"/>
          </p:nvPr>
        </p:nvSpPr>
        <p:spPr>
          <a:xfrm>
            <a:off x="1640156" y="334885"/>
            <a:ext cx="8911687" cy="1280890"/>
          </a:xfrm>
        </p:spPr>
        <p:txBody>
          <a:bodyPr/>
          <a:lstStyle/>
          <a:p>
            <a:r>
              <a:rPr lang="en-GB" dirty="0"/>
              <a:t>11. Rank stores by sales per city (City-level aggregation).</a:t>
            </a:r>
            <a:endParaRPr lang="en-IN" dirty="0"/>
          </a:p>
        </p:txBody>
      </p:sp>
      <p:sp>
        <p:nvSpPr>
          <p:cNvPr id="3" name="TextBox 2">
            <a:extLst>
              <a:ext uri="{FF2B5EF4-FFF2-40B4-BE49-F238E27FC236}">
                <a16:creationId xmlns:a16="http://schemas.microsoft.com/office/drawing/2014/main" id="{C3110BFD-1F75-4F1A-8093-3ACDC06C9CE5}"/>
              </a:ext>
            </a:extLst>
          </p:cNvPr>
          <p:cNvSpPr txBox="1"/>
          <p:nvPr/>
        </p:nvSpPr>
        <p:spPr>
          <a:xfrm>
            <a:off x="381000" y="2644170"/>
            <a:ext cx="5715000" cy="1569660"/>
          </a:xfrm>
          <a:prstGeom prst="rect">
            <a:avLst/>
          </a:prstGeom>
          <a:solidFill>
            <a:srgbClr val="F0F0F0"/>
          </a:solidFill>
        </p:spPr>
        <p:txBody>
          <a:bodyPr vert="horz" wrap="square" rtlCol="0">
            <a:spAutoFit/>
          </a:bodyPr>
          <a:lstStyle/>
          <a:p>
            <a:r>
              <a:rPr lang="en-IN" sz="1200" dirty="0">
                <a:latin typeface="Consolas" panose="020B0609020204030204" pitchFamily="49" charset="0"/>
              </a:rPr>
              <a:t>SQL Query:</a:t>
            </a:r>
          </a:p>
          <a:p>
            <a:r>
              <a:rPr lang="en-IN" sz="1200" dirty="0">
                <a:latin typeface="Consolas" panose="020B0609020204030204" pitchFamily="49" charset="0"/>
              </a:rPr>
              <a:t>SELECT </a:t>
            </a:r>
            <a:r>
              <a:rPr lang="en-IN" sz="1200" dirty="0" err="1">
                <a:latin typeface="Consolas" panose="020B0609020204030204" pitchFamily="49" charset="0"/>
              </a:rPr>
              <a:t>stores.City</a:t>
            </a:r>
            <a:r>
              <a:rPr lang="en-IN" sz="1200" dirty="0">
                <a:latin typeface="Consolas" panose="020B0609020204030204" pitchFamily="49" charset="0"/>
              </a:rPr>
              <a:t> AS CITY, </a:t>
            </a:r>
            <a:r>
              <a:rPr lang="en-IN" sz="1200" dirty="0" err="1">
                <a:latin typeface="Consolas" panose="020B0609020204030204" pitchFamily="49" charset="0"/>
              </a:rPr>
              <a:t>stores.Store_Name</a:t>
            </a:r>
            <a:r>
              <a:rPr lang="en-IN" sz="1200" dirty="0">
                <a:latin typeface="Consolas" panose="020B0609020204030204" pitchFamily="49" charset="0"/>
              </a:rPr>
              <a:t> AS STORE_NAME, </a:t>
            </a:r>
          </a:p>
          <a:p>
            <a:r>
              <a:rPr lang="en-IN" sz="1200" dirty="0">
                <a:latin typeface="Consolas" panose="020B0609020204030204" pitchFamily="49" charset="0"/>
              </a:rPr>
              <a:t>SUM(</a:t>
            </a:r>
            <a:r>
              <a:rPr lang="en-IN" sz="1200" dirty="0" err="1">
                <a:latin typeface="Consolas" panose="020B0609020204030204" pitchFamily="49" charset="0"/>
              </a:rPr>
              <a:t>sales.quantity</a:t>
            </a:r>
            <a:r>
              <a:rPr lang="en-IN" sz="1200" dirty="0">
                <a:latin typeface="Consolas" panose="020B0609020204030204" pitchFamily="49" charset="0"/>
              </a:rPr>
              <a:t> * </a:t>
            </a:r>
            <a:r>
              <a:rPr lang="en-IN" sz="1200" dirty="0" err="1">
                <a:latin typeface="Consolas" panose="020B0609020204030204" pitchFamily="49" charset="0"/>
              </a:rPr>
              <a:t>products.Price</a:t>
            </a:r>
            <a:r>
              <a:rPr lang="en-IN" sz="1200" dirty="0">
                <a:latin typeface="Consolas" panose="020B0609020204030204" pitchFamily="49" charset="0"/>
              </a:rPr>
              <a:t>) AS REVENUE, </a:t>
            </a:r>
          </a:p>
          <a:p>
            <a:r>
              <a:rPr lang="en-IN" sz="1200" dirty="0">
                <a:latin typeface="Consolas" panose="020B0609020204030204" pitchFamily="49" charset="0"/>
              </a:rPr>
              <a:t>RANK() OVER (PARTITION BY CITY ORDER BY SUM(</a:t>
            </a:r>
            <a:r>
              <a:rPr lang="en-IN" sz="1200" dirty="0" err="1">
                <a:latin typeface="Consolas" panose="020B0609020204030204" pitchFamily="49" charset="0"/>
              </a:rPr>
              <a:t>sales.quantity</a:t>
            </a:r>
            <a:r>
              <a:rPr lang="en-IN" sz="1200" dirty="0">
                <a:latin typeface="Consolas" panose="020B0609020204030204" pitchFamily="49" charset="0"/>
              </a:rPr>
              <a:t> * </a:t>
            </a:r>
            <a:r>
              <a:rPr lang="en-IN" sz="1200" dirty="0" err="1">
                <a:latin typeface="Consolas" panose="020B0609020204030204" pitchFamily="49" charset="0"/>
              </a:rPr>
              <a:t>products.Price</a:t>
            </a:r>
            <a:r>
              <a:rPr lang="en-IN" sz="1200" dirty="0">
                <a:latin typeface="Consolas" panose="020B0609020204030204" pitchFamily="49" charset="0"/>
              </a:rPr>
              <a:t>) DESC) AS RNK</a:t>
            </a:r>
          </a:p>
          <a:p>
            <a:r>
              <a:rPr lang="en-IN" sz="1200" dirty="0">
                <a:latin typeface="Consolas" panose="020B0609020204030204" pitchFamily="49" charset="0"/>
              </a:rPr>
              <a:t>FROM sales JOIN stores ON </a:t>
            </a:r>
            <a:r>
              <a:rPr lang="en-IN" sz="1200" dirty="0" err="1">
                <a:latin typeface="Consolas" panose="020B0609020204030204" pitchFamily="49" charset="0"/>
              </a:rPr>
              <a:t>sales.store_id</a:t>
            </a:r>
            <a:r>
              <a:rPr lang="en-IN" sz="1200" dirty="0">
                <a:latin typeface="Consolas" panose="020B0609020204030204" pitchFamily="49" charset="0"/>
              </a:rPr>
              <a:t> = </a:t>
            </a:r>
            <a:r>
              <a:rPr lang="en-IN" sz="1200" dirty="0" err="1">
                <a:latin typeface="Consolas" panose="020B0609020204030204" pitchFamily="49" charset="0"/>
              </a:rPr>
              <a:t>stores.Store_ID</a:t>
            </a:r>
            <a:endParaRPr lang="en-IN" sz="1200" dirty="0">
              <a:latin typeface="Consolas" panose="020B0609020204030204" pitchFamily="49" charset="0"/>
            </a:endParaRPr>
          </a:p>
          <a:p>
            <a:r>
              <a:rPr lang="en-IN" sz="1200" dirty="0">
                <a:latin typeface="Consolas" panose="020B0609020204030204" pitchFamily="49" charset="0"/>
              </a:rPr>
              <a:t>JOIN products ON </a:t>
            </a:r>
            <a:r>
              <a:rPr lang="en-IN" sz="1200" dirty="0" err="1">
                <a:latin typeface="Consolas" panose="020B0609020204030204" pitchFamily="49" charset="0"/>
              </a:rPr>
              <a:t>sales.product_id</a:t>
            </a:r>
            <a:r>
              <a:rPr lang="en-IN" sz="1200" dirty="0">
                <a:latin typeface="Consolas" panose="020B0609020204030204" pitchFamily="49" charset="0"/>
              </a:rPr>
              <a:t> = </a:t>
            </a:r>
            <a:r>
              <a:rPr lang="en-IN" sz="1200" dirty="0" err="1">
                <a:latin typeface="Consolas" panose="020B0609020204030204" pitchFamily="49" charset="0"/>
              </a:rPr>
              <a:t>products.Product_ID</a:t>
            </a:r>
            <a:r>
              <a:rPr lang="en-IN" sz="1200" dirty="0">
                <a:latin typeface="Consolas" panose="020B0609020204030204" pitchFamily="49" charset="0"/>
              </a:rPr>
              <a:t> GROUP BY CITY, STORE_NAME;</a:t>
            </a:r>
          </a:p>
        </p:txBody>
      </p:sp>
      <p:sp>
        <p:nvSpPr>
          <p:cNvPr id="4" name="Rectangle 3">
            <a:extLst>
              <a:ext uri="{FF2B5EF4-FFF2-40B4-BE49-F238E27FC236}">
                <a16:creationId xmlns:a16="http://schemas.microsoft.com/office/drawing/2014/main" id="{175D8CEB-2AFA-4768-A488-BFEA013BB74D}"/>
              </a:ext>
            </a:extLst>
          </p:cNvPr>
          <p:cNvSpPr/>
          <p:nvPr/>
        </p:nvSpPr>
        <p:spPr>
          <a:xfrm>
            <a:off x="6286500" y="1841500"/>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8FBF1331-47AF-4CD7-919A-6078D3E3F67E}"/>
              </a:ext>
            </a:extLst>
          </p:cNvPr>
          <p:cNvSpPr txBox="1"/>
          <p:nvPr/>
        </p:nvSpPr>
        <p:spPr>
          <a:xfrm>
            <a:off x="381000" y="5080000"/>
            <a:ext cx="11811000" cy="1323439"/>
          </a:xfrm>
          <a:prstGeom prst="rect">
            <a:avLst/>
          </a:prstGeom>
          <a:noFill/>
        </p:spPr>
        <p:txBody>
          <a:bodyPr vert="horz" rtlCol="0">
            <a:spAutoFit/>
          </a:bodyPr>
          <a:lstStyle/>
          <a:p>
            <a:r>
              <a:rPr lang="en-GB" sz="2000" b="1" dirty="0"/>
              <a:t>Observations:</a:t>
            </a:r>
          </a:p>
          <a:p>
            <a:r>
              <a:rPr lang="en-GB" sz="2000" dirty="0"/>
              <a:t>This report ranks stores by revenue within each city. It highlights the top‑earning store in every location, showing where sales performance is strongest and guiding focus for growth in lower‑ranked stores</a:t>
            </a:r>
            <a:endParaRPr lang="en-IN" sz="2000" dirty="0"/>
          </a:p>
        </p:txBody>
      </p:sp>
      <p:pic>
        <p:nvPicPr>
          <p:cNvPr id="7" name="Picture 6">
            <a:extLst>
              <a:ext uri="{FF2B5EF4-FFF2-40B4-BE49-F238E27FC236}">
                <a16:creationId xmlns:a16="http://schemas.microsoft.com/office/drawing/2014/main" id="{D29E659B-344D-4E70-A257-33A53EF048DF}"/>
              </a:ext>
            </a:extLst>
          </p:cNvPr>
          <p:cNvPicPr>
            <a:picLocks noChangeAspect="1"/>
          </p:cNvPicPr>
          <p:nvPr/>
        </p:nvPicPr>
        <p:blipFill>
          <a:blip r:embed="rId2"/>
          <a:stretch>
            <a:fillRect/>
          </a:stretch>
        </p:blipFill>
        <p:spPr>
          <a:xfrm>
            <a:off x="6941763" y="2041720"/>
            <a:ext cx="4506898" cy="2774560"/>
          </a:xfrm>
          <a:prstGeom prst="rect">
            <a:avLst/>
          </a:prstGeom>
        </p:spPr>
      </p:pic>
    </p:spTree>
    <p:extLst>
      <p:ext uri="{BB962C8B-B14F-4D97-AF65-F5344CB8AC3E}">
        <p14:creationId xmlns:p14="http://schemas.microsoft.com/office/powerpoint/2010/main" val="1289554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ED33CF-41D4-4303-A467-5D4A76A189F7}"/>
              </a:ext>
            </a:extLst>
          </p:cNvPr>
          <p:cNvSpPr>
            <a:spLocks noGrp="1"/>
          </p:cNvSpPr>
          <p:nvPr>
            <p:ph type="title"/>
          </p:nvPr>
        </p:nvSpPr>
        <p:spPr>
          <a:xfrm>
            <a:off x="1640156" y="362853"/>
            <a:ext cx="8911687" cy="1280890"/>
          </a:xfrm>
        </p:spPr>
        <p:txBody>
          <a:bodyPr>
            <a:normAutofit fontScale="90000"/>
          </a:bodyPr>
          <a:lstStyle/>
          <a:p>
            <a:r>
              <a:rPr lang="en-GB" dirty="0"/>
              <a:t>12. Find stores that sell high-value products but have low warranty claims.</a:t>
            </a:r>
            <a:endParaRPr lang="en-IN" dirty="0"/>
          </a:p>
        </p:txBody>
      </p:sp>
      <p:sp>
        <p:nvSpPr>
          <p:cNvPr id="3" name="TextBox 2">
            <a:extLst>
              <a:ext uri="{FF2B5EF4-FFF2-40B4-BE49-F238E27FC236}">
                <a16:creationId xmlns:a16="http://schemas.microsoft.com/office/drawing/2014/main" id="{01747C64-B093-4D87-83D1-7F1F0C9C3CA9}"/>
              </a:ext>
            </a:extLst>
          </p:cNvPr>
          <p:cNvSpPr txBox="1"/>
          <p:nvPr/>
        </p:nvSpPr>
        <p:spPr>
          <a:xfrm>
            <a:off x="381000" y="3013501"/>
            <a:ext cx="5715000" cy="830997"/>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WITH HIGH_VALUE_PRODUCTS AS (...), STORE_LOW_CLAIM_COUNT AS (...) </a:t>
            </a:r>
          </a:p>
          <a:p>
            <a:r>
              <a:rPr lang="en-GB" sz="1200" dirty="0">
                <a:latin typeface="Consolas" panose="020B0609020204030204" pitchFamily="49" charset="0"/>
              </a:rPr>
              <a:t>SELECT DISTINCT COSTLY_SALES_STORE.STORE_ID, </a:t>
            </a:r>
            <a:r>
              <a:rPr lang="en-GB" sz="1200" dirty="0" err="1">
                <a:latin typeface="Consolas" panose="020B0609020204030204" pitchFamily="49" charset="0"/>
              </a:rPr>
              <a:t>stores.Store_Name</a:t>
            </a:r>
            <a:r>
              <a:rPr lang="en-GB" sz="1200" dirty="0">
                <a:latin typeface="Consolas" panose="020B0609020204030204" pitchFamily="49" charset="0"/>
              </a:rPr>
              <a:t> </a:t>
            </a:r>
          </a:p>
          <a:p>
            <a:r>
              <a:rPr lang="en-GB" sz="1200" dirty="0">
                <a:latin typeface="Consolas" panose="020B0609020204030204" pitchFamily="49" charset="0"/>
              </a:rPr>
              <a:t>FROM COSTLY_SALES_STORE INNER JOIN STORE_LOW_CLAIM_COUNT ON ...;</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A98EEFA8-5436-49B8-B168-491EEC8CA18D}"/>
              </a:ext>
            </a:extLst>
          </p:cNvPr>
          <p:cNvSpPr/>
          <p:nvPr/>
        </p:nvSpPr>
        <p:spPr>
          <a:xfrm>
            <a:off x="6286500" y="1841499"/>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9F4FA42E-090D-4B79-A9E2-8B734354BD73}"/>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These stores sell premium products yet maintain below‑average warranty claims, showing strong quality and customer trust.</a:t>
            </a:r>
            <a:endParaRPr lang="en-IN" sz="2000" dirty="0"/>
          </a:p>
        </p:txBody>
      </p:sp>
      <p:pic>
        <p:nvPicPr>
          <p:cNvPr id="7" name="Picture 6">
            <a:extLst>
              <a:ext uri="{FF2B5EF4-FFF2-40B4-BE49-F238E27FC236}">
                <a16:creationId xmlns:a16="http://schemas.microsoft.com/office/drawing/2014/main" id="{9B8D70B4-7CC8-4B04-9D17-A218DC8FFD33}"/>
              </a:ext>
            </a:extLst>
          </p:cNvPr>
          <p:cNvPicPr>
            <a:picLocks noChangeAspect="1"/>
          </p:cNvPicPr>
          <p:nvPr/>
        </p:nvPicPr>
        <p:blipFill>
          <a:blip r:embed="rId2"/>
          <a:stretch>
            <a:fillRect/>
          </a:stretch>
        </p:blipFill>
        <p:spPr>
          <a:xfrm>
            <a:off x="7437327" y="2167583"/>
            <a:ext cx="3395514" cy="2522834"/>
          </a:xfrm>
          <a:prstGeom prst="rect">
            <a:avLst/>
          </a:prstGeom>
        </p:spPr>
      </p:pic>
    </p:spTree>
    <p:extLst>
      <p:ext uri="{BB962C8B-B14F-4D97-AF65-F5344CB8AC3E}">
        <p14:creationId xmlns:p14="http://schemas.microsoft.com/office/powerpoint/2010/main" val="12261887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75951E-35C4-4AC5-8065-CC495F5F18D8}"/>
              </a:ext>
            </a:extLst>
          </p:cNvPr>
          <p:cNvSpPr>
            <a:spLocks noGrp="1"/>
          </p:cNvSpPr>
          <p:nvPr>
            <p:ph type="title"/>
          </p:nvPr>
        </p:nvSpPr>
        <p:spPr>
          <a:xfrm>
            <a:off x="1640156" y="335916"/>
            <a:ext cx="8911687" cy="1280890"/>
          </a:xfrm>
        </p:spPr>
        <p:txBody>
          <a:bodyPr/>
          <a:lstStyle/>
          <a:p>
            <a:r>
              <a:rPr lang="en-GB" dirty="0"/>
              <a:t>13. Identify stores with highest warranty claim ratio.</a:t>
            </a:r>
            <a:endParaRPr lang="en-IN" dirty="0"/>
          </a:p>
        </p:txBody>
      </p:sp>
      <p:sp>
        <p:nvSpPr>
          <p:cNvPr id="3" name="TextBox 2">
            <a:extLst>
              <a:ext uri="{FF2B5EF4-FFF2-40B4-BE49-F238E27FC236}">
                <a16:creationId xmlns:a16="http://schemas.microsoft.com/office/drawing/2014/main" id="{DE620982-59FF-46D9-9CFA-4CEC13A0F6F8}"/>
              </a:ext>
            </a:extLst>
          </p:cNvPr>
          <p:cNvSpPr txBox="1"/>
          <p:nvPr/>
        </p:nvSpPr>
        <p:spPr>
          <a:xfrm>
            <a:off x="381000" y="2736502"/>
            <a:ext cx="5715000" cy="1384995"/>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WITH STORE_SALES_COUNT AS (...), STORE_CLAIM_COUNT AS (...) </a:t>
            </a:r>
          </a:p>
          <a:p>
            <a:r>
              <a:rPr lang="en-GB" sz="1200" dirty="0">
                <a:latin typeface="Consolas" panose="020B0609020204030204" pitchFamily="49" charset="0"/>
              </a:rPr>
              <a:t>SELECT DISTINCT </a:t>
            </a:r>
            <a:r>
              <a:rPr lang="en-GB" sz="1200" dirty="0" err="1">
                <a:latin typeface="Consolas" panose="020B0609020204030204" pitchFamily="49" charset="0"/>
              </a:rPr>
              <a:t>sales.store_id</a:t>
            </a:r>
            <a:r>
              <a:rPr lang="en-GB" sz="1200" dirty="0">
                <a:latin typeface="Consolas" panose="020B0609020204030204" pitchFamily="49" charset="0"/>
              </a:rPr>
              <a:t>, ROUND((STORE_SALES_COUNT.SALES_COUNT / STORE_CLAIM_COUNT.CLAIM_COUNT),2) AS CLAIM_RATIO </a:t>
            </a:r>
          </a:p>
          <a:p>
            <a:r>
              <a:rPr lang="en-GB" sz="1200" dirty="0">
                <a:latin typeface="Consolas" panose="020B0609020204030204" pitchFamily="49" charset="0"/>
              </a:rPr>
              <a:t>FROM STORE_SALES_COUNT JOIN STORE_CLAIM_COUNT ON ... ORDER BY CLAIM_RATIO DESC;</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EBB78152-91B1-43DB-B51B-3E0577C13FE1}"/>
              </a:ext>
            </a:extLst>
          </p:cNvPr>
          <p:cNvSpPr/>
          <p:nvPr/>
        </p:nvSpPr>
        <p:spPr>
          <a:xfrm>
            <a:off x="6286500" y="1841499"/>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AECD6529-B795-43A3-991D-0ED7F4579B9C}"/>
              </a:ext>
            </a:extLst>
          </p:cNvPr>
          <p:cNvSpPr txBox="1"/>
          <p:nvPr/>
        </p:nvSpPr>
        <p:spPr>
          <a:xfrm>
            <a:off x="381000" y="5080000"/>
            <a:ext cx="11811000" cy="1323439"/>
          </a:xfrm>
          <a:prstGeom prst="rect">
            <a:avLst/>
          </a:prstGeom>
          <a:noFill/>
        </p:spPr>
        <p:txBody>
          <a:bodyPr vert="horz" rtlCol="0">
            <a:spAutoFit/>
          </a:bodyPr>
          <a:lstStyle/>
          <a:p>
            <a:r>
              <a:rPr lang="en-GB" sz="2000" b="1" dirty="0"/>
              <a:t>Observations:</a:t>
            </a:r>
          </a:p>
          <a:p>
            <a:r>
              <a:rPr lang="en-GB" sz="2000" dirty="0"/>
              <a:t>This analysis highlights stores with the best sales-to-claim ratio. A higher ratio means more sales with fewer warranty issues — signalling stronger product quality and customer satisfaction. Stores with lower ratios may need closer attention to service, training, or supplier quality</a:t>
            </a:r>
            <a:endParaRPr lang="en-IN" sz="2000" dirty="0"/>
          </a:p>
        </p:txBody>
      </p:sp>
      <p:pic>
        <p:nvPicPr>
          <p:cNvPr id="7" name="Picture 6">
            <a:extLst>
              <a:ext uri="{FF2B5EF4-FFF2-40B4-BE49-F238E27FC236}">
                <a16:creationId xmlns:a16="http://schemas.microsoft.com/office/drawing/2014/main" id="{E30B4368-26C9-4D40-8431-BB16DEC459A0}"/>
              </a:ext>
            </a:extLst>
          </p:cNvPr>
          <p:cNvPicPr>
            <a:picLocks noChangeAspect="1"/>
          </p:cNvPicPr>
          <p:nvPr/>
        </p:nvPicPr>
        <p:blipFill>
          <a:blip r:embed="rId2"/>
          <a:stretch>
            <a:fillRect/>
          </a:stretch>
        </p:blipFill>
        <p:spPr>
          <a:xfrm>
            <a:off x="6684904" y="2182532"/>
            <a:ext cx="5126096" cy="2492935"/>
          </a:xfrm>
          <a:prstGeom prst="rect">
            <a:avLst/>
          </a:prstGeom>
        </p:spPr>
      </p:pic>
    </p:spTree>
    <p:extLst>
      <p:ext uri="{BB962C8B-B14F-4D97-AF65-F5344CB8AC3E}">
        <p14:creationId xmlns:p14="http://schemas.microsoft.com/office/powerpoint/2010/main" val="3772347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EFDDED-C97E-48D4-AD26-244E41E852A7}"/>
              </a:ext>
            </a:extLst>
          </p:cNvPr>
          <p:cNvSpPr>
            <a:spLocks noGrp="1"/>
          </p:cNvSpPr>
          <p:nvPr>
            <p:ph type="title"/>
          </p:nvPr>
        </p:nvSpPr>
        <p:spPr>
          <a:xfrm>
            <a:off x="1640156" y="428167"/>
            <a:ext cx="8911687" cy="1280890"/>
          </a:xfrm>
        </p:spPr>
        <p:txBody>
          <a:bodyPr/>
          <a:lstStyle/>
          <a:p>
            <a:r>
              <a:rPr lang="en-GB" dirty="0"/>
              <a:t>14. Compare sales performance across countries.</a:t>
            </a:r>
            <a:endParaRPr lang="en-IN" dirty="0"/>
          </a:p>
        </p:txBody>
      </p:sp>
      <p:sp>
        <p:nvSpPr>
          <p:cNvPr id="3" name="TextBox 2">
            <a:extLst>
              <a:ext uri="{FF2B5EF4-FFF2-40B4-BE49-F238E27FC236}">
                <a16:creationId xmlns:a16="http://schemas.microsoft.com/office/drawing/2014/main" id="{FF6E5031-3744-488E-8ABF-15A800A9783A}"/>
              </a:ext>
            </a:extLst>
          </p:cNvPr>
          <p:cNvSpPr txBox="1"/>
          <p:nvPr/>
        </p:nvSpPr>
        <p:spPr>
          <a:xfrm>
            <a:off x="381000" y="2644170"/>
            <a:ext cx="5715000" cy="1569660"/>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SELECT </a:t>
            </a:r>
            <a:r>
              <a:rPr lang="en-GB" sz="1200" dirty="0" err="1">
                <a:latin typeface="Consolas" panose="020B0609020204030204" pitchFamily="49" charset="0"/>
              </a:rPr>
              <a:t>stores.Country</a:t>
            </a:r>
            <a:r>
              <a:rPr lang="en-GB" sz="1200" dirty="0">
                <a:latin typeface="Consolas" panose="020B0609020204030204" pitchFamily="49" charset="0"/>
              </a:rPr>
              <a:t> AS COUNTRY, SUM(</a:t>
            </a:r>
            <a:r>
              <a:rPr lang="en-GB" sz="1200" dirty="0" err="1">
                <a:latin typeface="Consolas" panose="020B0609020204030204" pitchFamily="49" charset="0"/>
              </a:rPr>
              <a:t>sales.quantity</a:t>
            </a:r>
            <a:r>
              <a:rPr lang="en-GB" sz="1200" dirty="0">
                <a:latin typeface="Consolas" panose="020B0609020204030204" pitchFamily="49" charset="0"/>
              </a:rPr>
              <a:t>) AS TOTAL_QUANTITY, </a:t>
            </a:r>
          </a:p>
          <a:p>
            <a:r>
              <a:rPr lang="en-GB" sz="1200" dirty="0">
                <a:latin typeface="Consolas" panose="020B0609020204030204" pitchFamily="49" charset="0"/>
              </a:rPr>
              <a:t>SUM(</a:t>
            </a:r>
            <a:r>
              <a:rPr lang="en-GB" sz="1200" dirty="0" err="1">
                <a:latin typeface="Consolas" panose="020B0609020204030204" pitchFamily="49" charset="0"/>
              </a:rPr>
              <a:t>sales.quantity</a:t>
            </a:r>
            <a:r>
              <a:rPr lang="en-GB" sz="1200" dirty="0">
                <a:latin typeface="Consolas" panose="020B0609020204030204" pitchFamily="49" charset="0"/>
              </a:rPr>
              <a:t> * </a:t>
            </a:r>
            <a:r>
              <a:rPr lang="en-GB" sz="1200" dirty="0" err="1">
                <a:latin typeface="Consolas" panose="020B0609020204030204" pitchFamily="49" charset="0"/>
              </a:rPr>
              <a:t>products.Price</a:t>
            </a:r>
            <a:r>
              <a:rPr lang="en-GB" sz="1200" dirty="0">
                <a:latin typeface="Consolas" panose="020B0609020204030204" pitchFamily="49" charset="0"/>
              </a:rPr>
              <a:t>) AS TOTAL_SALES</a:t>
            </a:r>
          </a:p>
          <a:p>
            <a:r>
              <a:rPr lang="en-GB" sz="1200" dirty="0">
                <a:latin typeface="Consolas" panose="020B0609020204030204" pitchFamily="49" charset="0"/>
              </a:rPr>
              <a:t>FROM sales JOIN products ON </a:t>
            </a:r>
            <a:r>
              <a:rPr lang="en-GB" sz="1200" dirty="0" err="1">
                <a:latin typeface="Consolas" panose="020B0609020204030204" pitchFamily="49" charset="0"/>
              </a:rPr>
              <a:t>sales.product_id</a:t>
            </a:r>
            <a:r>
              <a:rPr lang="en-GB" sz="1200" dirty="0">
                <a:latin typeface="Consolas" panose="020B0609020204030204" pitchFamily="49" charset="0"/>
              </a:rPr>
              <a:t> = </a:t>
            </a:r>
            <a:r>
              <a:rPr lang="en-GB" sz="1200" dirty="0" err="1">
                <a:latin typeface="Consolas" panose="020B0609020204030204" pitchFamily="49" charset="0"/>
              </a:rPr>
              <a:t>products.Product_ID</a:t>
            </a:r>
            <a:endParaRPr lang="en-GB" sz="1200" dirty="0">
              <a:latin typeface="Consolas" panose="020B0609020204030204" pitchFamily="49" charset="0"/>
            </a:endParaRPr>
          </a:p>
          <a:p>
            <a:r>
              <a:rPr lang="en-GB" sz="1200" dirty="0">
                <a:latin typeface="Consolas" panose="020B0609020204030204" pitchFamily="49" charset="0"/>
              </a:rPr>
              <a:t>JOIN stores ON </a:t>
            </a:r>
            <a:r>
              <a:rPr lang="en-GB" sz="1200" dirty="0" err="1">
                <a:latin typeface="Consolas" panose="020B0609020204030204" pitchFamily="49" charset="0"/>
              </a:rPr>
              <a:t>sales.store_id</a:t>
            </a:r>
            <a:r>
              <a:rPr lang="en-GB" sz="1200" dirty="0">
                <a:latin typeface="Consolas" panose="020B0609020204030204" pitchFamily="49" charset="0"/>
              </a:rPr>
              <a:t> = </a:t>
            </a:r>
            <a:r>
              <a:rPr lang="en-GB" sz="1200" dirty="0" err="1">
                <a:latin typeface="Consolas" panose="020B0609020204030204" pitchFamily="49" charset="0"/>
              </a:rPr>
              <a:t>stores.Store_ID</a:t>
            </a:r>
            <a:endParaRPr lang="en-GB" sz="1200" dirty="0">
              <a:latin typeface="Consolas" panose="020B0609020204030204" pitchFamily="49" charset="0"/>
            </a:endParaRPr>
          </a:p>
          <a:p>
            <a:r>
              <a:rPr lang="en-GB" sz="1200" dirty="0">
                <a:latin typeface="Consolas" panose="020B0609020204030204" pitchFamily="49" charset="0"/>
              </a:rPr>
              <a:t>GROUP BY COUNTRY ORDER BY TOTAL_SALES DESC;</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F04643AC-B969-476F-9DB4-02CCF2606D95}"/>
              </a:ext>
            </a:extLst>
          </p:cNvPr>
          <p:cNvSpPr/>
          <p:nvPr/>
        </p:nvSpPr>
        <p:spPr>
          <a:xfrm>
            <a:off x="6286500" y="1841500"/>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64E50EB9-9185-4B2A-A087-2C23643317BC}"/>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This report shows which countries drive the highest sales. Top‑performing regions generate the bulk of revenue, while lower‑ranking countries highlight growth opportunities.</a:t>
            </a:r>
            <a:endParaRPr lang="en-IN" sz="2000" dirty="0"/>
          </a:p>
        </p:txBody>
      </p:sp>
      <p:pic>
        <p:nvPicPr>
          <p:cNvPr id="7" name="Picture 6">
            <a:extLst>
              <a:ext uri="{FF2B5EF4-FFF2-40B4-BE49-F238E27FC236}">
                <a16:creationId xmlns:a16="http://schemas.microsoft.com/office/drawing/2014/main" id="{6B4DC721-1621-4CC4-A926-181871AD50E0}"/>
              </a:ext>
            </a:extLst>
          </p:cNvPr>
          <p:cNvPicPr>
            <a:picLocks noChangeAspect="1"/>
          </p:cNvPicPr>
          <p:nvPr/>
        </p:nvPicPr>
        <p:blipFill>
          <a:blip r:embed="rId2"/>
          <a:stretch>
            <a:fillRect/>
          </a:stretch>
        </p:blipFill>
        <p:spPr>
          <a:xfrm>
            <a:off x="7038199" y="2254893"/>
            <a:ext cx="4253368" cy="2348213"/>
          </a:xfrm>
          <a:prstGeom prst="rect">
            <a:avLst/>
          </a:prstGeom>
        </p:spPr>
      </p:pic>
    </p:spTree>
    <p:extLst>
      <p:ext uri="{BB962C8B-B14F-4D97-AF65-F5344CB8AC3E}">
        <p14:creationId xmlns:p14="http://schemas.microsoft.com/office/powerpoint/2010/main" val="1899775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43460E-118E-459B-95CA-B545AE1AD1BF}"/>
              </a:ext>
            </a:extLst>
          </p:cNvPr>
          <p:cNvSpPr>
            <a:spLocks noGrp="1"/>
          </p:cNvSpPr>
          <p:nvPr>
            <p:ph type="title"/>
          </p:nvPr>
        </p:nvSpPr>
        <p:spPr>
          <a:xfrm>
            <a:off x="1640156" y="404608"/>
            <a:ext cx="8911687" cy="1280890"/>
          </a:xfrm>
        </p:spPr>
        <p:txBody>
          <a:bodyPr>
            <a:normAutofit fontScale="90000"/>
          </a:bodyPr>
          <a:lstStyle/>
          <a:p>
            <a:r>
              <a:rPr lang="en-GB" dirty="0"/>
              <a:t>15. Find the store with maximum product diversity (unique products sold).</a:t>
            </a:r>
            <a:endParaRPr lang="en-IN" dirty="0"/>
          </a:p>
        </p:txBody>
      </p:sp>
      <p:sp>
        <p:nvSpPr>
          <p:cNvPr id="3" name="TextBox 2">
            <a:extLst>
              <a:ext uri="{FF2B5EF4-FFF2-40B4-BE49-F238E27FC236}">
                <a16:creationId xmlns:a16="http://schemas.microsoft.com/office/drawing/2014/main" id="{B23737EC-9DBA-4EDA-B99A-4CD102FD9836}"/>
              </a:ext>
            </a:extLst>
          </p:cNvPr>
          <p:cNvSpPr txBox="1"/>
          <p:nvPr/>
        </p:nvSpPr>
        <p:spPr>
          <a:xfrm>
            <a:off x="380999" y="3013501"/>
            <a:ext cx="5715000" cy="830997"/>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SELECT </a:t>
            </a:r>
            <a:r>
              <a:rPr lang="en-GB" sz="1200" dirty="0" err="1">
                <a:latin typeface="Consolas" panose="020B0609020204030204" pitchFamily="49" charset="0"/>
              </a:rPr>
              <a:t>sales.store_id</a:t>
            </a:r>
            <a:r>
              <a:rPr lang="en-GB" sz="1200" dirty="0">
                <a:latin typeface="Consolas" panose="020B0609020204030204" pitchFamily="49" charset="0"/>
              </a:rPr>
              <a:t> AS STORE_ID, COUNT(DISTINCT </a:t>
            </a:r>
            <a:r>
              <a:rPr lang="en-GB" sz="1200" dirty="0" err="1">
                <a:latin typeface="Consolas" panose="020B0609020204030204" pitchFamily="49" charset="0"/>
              </a:rPr>
              <a:t>sales.product_id</a:t>
            </a:r>
            <a:r>
              <a:rPr lang="en-GB" sz="1200" dirty="0">
                <a:latin typeface="Consolas" panose="020B0609020204030204" pitchFamily="49" charset="0"/>
              </a:rPr>
              <a:t>) AS UNIQUE_PRODUCTS_COUNT</a:t>
            </a:r>
          </a:p>
          <a:p>
            <a:r>
              <a:rPr lang="en-GB" sz="1200" dirty="0">
                <a:latin typeface="Consolas" panose="020B0609020204030204" pitchFamily="49" charset="0"/>
              </a:rPr>
              <a:t>FROM sales GROUP BY STORE_ID ORDER BY UNIQUE_PRODUCTS_COUNT DESC;</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72F46623-A08E-4320-8501-1FC5C8363783}"/>
              </a:ext>
            </a:extLst>
          </p:cNvPr>
          <p:cNvSpPr/>
          <p:nvPr/>
        </p:nvSpPr>
        <p:spPr>
          <a:xfrm>
            <a:off x="6286500" y="1841499"/>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34020EE7-7528-4203-B7FD-DBA1A477490B}"/>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Stores with higher unique product counts are offering the widest variety, attracting more customers and boosting sales opportunities.</a:t>
            </a:r>
            <a:endParaRPr lang="en-IN" sz="2000" dirty="0"/>
          </a:p>
        </p:txBody>
      </p:sp>
      <p:pic>
        <p:nvPicPr>
          <p:cNvPr id="7" name="Picture 6">
            <a:extLst>
              <a:ext uri="{FF2B5EF4-FFF2-40B4-BE49-F238E27FC236}">
                <a16:creationId xmlns:a16="http://schemas.microsoft.com/office/drawing/2014/main" id="{097C35E4-DF45-442D-9EAF-5100DF546AEC}"/>
              </a:ext>
            </a:extLst>
          </p:cNvPr>
          <p:cNvPicPr>
            <a:picLocks noChangeAspect="1"/>
          </p:cNvPicPr>
          <p:nvPr/>
        </p:nvPicPr>
        <p:blipFill>
          <a:blip r:embed="rId2"/>
          <a:stretch>
            <a:fillRect/>
          </a:stretch>
        </p:blipFill>
        <p:spPr>
          <a:xfrm>
            <a:off x="6663539" y="2083556"/>
            <a:ext cx="4901261" cy="2690888"/>
          </a:xfrm>
          <a:prstGeom prst="rect">
            <a:avLst/>
          </a:prstGeom>
        </p:spPr>
      </p:pic>
    </p:spTree>
    <p:extLst>
      <p:ext uri="{BB962C8B-B14F-4D97-AF65-F5344CB8AC3E}">
        <p14:creationId xmlns:p14="http://schemas.microsoft.com/office/powerpoint/2010/main" val="3181362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89764-5FEF-4D17-9136-0AC077451E77}"/>
              </a:ext>
            </a:extLst>
          </p:cNvPr>
          <p:cNvSpPr>
            <a:spLocks noGrp="1"/>
          </p:cNvSpPr>
          <p:nvPr>
            <p:ph type="title"/>
          </p:nvPr>
        </p:nvSpPr>
        <p:spPr>
          <a:xfrm>
            <a:off x="1640156" y="382082"/>
            <a:ext cx="8911687" cy="1280890"/>
          </a:xfrm>
        </p:spPr>
        <p:txBody>
          <a:bodyPr/>
          <a:lstStyle/>
          <a:p>
            <a:r>
              <a:rPr lang="en-GB" dirty="0"/>
              <a:t>16. Find the average time gap between sale_date and </a:t>
            </a:r>
            <a:r>
              <a:rPr lang="en-GB" dirty="0" err="1"/>
              <a:t>claim_date</a:t>
            </a:r>
            <a:r>
              <a:rPr lang="en-GB" dirty="0"/>
              <a:t>.</a:t>
            </a:r>
            <a:endParaRPr lang="en-IN" dirty="0"/>
          </a:p>
        </p:txBody>
      </p:sp>
      <p:sp>
        <p:nvSpPr>
          <p:cNvPr id="3" name="TextBox 2">
            <a:extLst>
              <a:ext uri="{FF2B5EF4-FFF2-40B4-BE49-F238E27FC236}">
                <a16:creationId xmlns:a16="http://schemas.microsoft.com/office/drawing/2014/main" id="{A5C1739B-3C30-4300-9862-F62C65FC0A84}"/>
              </a:ext>
            </a:extLst>
          </p:cNvPr>
          <p:cNvSpPr txBox="1"/>
          <p:nvPr/>
        </p:nvSpPr>
        <p:spPr>
          <a:xfrm>
            <a:off x="297025" y="2828835"/>
            <a:ext cx="5715000" cy="1200329"/>
          </a:xfrm>
          <a:prstGeom prst="rect">
            <a:avLst/>
          </a:prstGeom>
          <a:solidFill>
            <a:srgbClr val="F0F0F0"/>
          </a:solidFill>
        </p:spPr>
        <p:txBody>
          <a:bodyPr vert="horz" wrap="square" rtlCol="0">
            <a:spAutoFit/>
          </a:bodyPr>
          <a:lstStyle/>
          <a:p>
            <a:r>
              <a:rPr lang="en-IN" sz="1200" dirty="0">
                <a:latin typeface="Consolas" panose="020B0609020204030204" pitchFamily="49" charset="0"/>
              </a:rPr>
              <a:t>SQL Query:</a:t>
            </a:r>
          </a:p>
          <a:p>
            <a:r>
              <a:rPr lang="en-IN" sz="1200" dirty="0">
                <a:latin typeface="Consolas" panose="020B0609020204030204" pitchFamily="49" charset="0"/>
              </a:rPr>
              <a:t>SELECT ROUND(AVG(DATEDIFF(</a:t>
            </a:r>
            <a:r>
              <a:rPr lang="en-IN" sz="1200" dirty="0" err="1">
                <a:latin typeface="Consolas" panose="020B0609020204030204" pitchFamily="49" charset="0"/>
              </a:rPr>
              <a:t>warranty.claim_date</a:t>
            </a:r>
            <a:r>
              <a:rPr lang="en-IN" sz="1200" dirty="0">
                <a:latin typeface="Consolas" panose="020B0609020204030204" pitchFamily="49" charset="0"/>
              </a:rPr>
              <a:t>, </a:t>
            </a:r>
            <a:r>
              <a:rPr lang="en-IN" sz="1200" dirty="0" err="1">
                <a:latin typeface="Consolas" panose="020B0609020204030204" pitchFamily="49" charset="0"/>
              </a:rPr>
              <a:t>sales.sale_date</a:t>
            </a:r>
            <a:r>
              <a:rPr lang="en-IN" sz="1200" dirty="0">
                <a:latin typeface="Consolas" panose="020B0609020204030204" pitchFamily="49" charset="0"/>
              </a:rPr>
              <a:t>)),2) AS AVG_GAP_DAYS, </a:t>
            </a:r>
          </a:p>
          <a:p>
            <a:r>
              <a:rPr lang="en-IN" sz="1200" dirty="0">
                <a:latin typeface="Consolas" panose="020B0609020204030204" pitchFamily="49" charset="0"/>
              </a:rPr>
              <a:t>ROUND(AVG((DATEDIFF(</a:t>
            </a:r>
            <a:r>
              <a:rPr lang="en-IN" sz="1200" dirty="0" err="1">
                <a:latin typeface="Consolas" panose="020B0609020204030204" pitchFamily="49" charset="0"/>
              </a:rPr>
              <a:t>warranty.claim_date</a:t>
            </a:r>
            <a:r>
              <a:rPr lang="en-IN" sz="1200" dirty="0">
                <a:latin typeface="Consolas" panose="020B0609020204030204" pitchFamily="49" charset="0"/>
              </a:rPr>
              <a:t>, </a:t>
            </a:r>
            <a:r>
              <a:rPr lang="en-IN" sz="1200" dirty="0" err="1">
                <a:latin typeface="Consolas" panose="020B0609020204030204" pitchFamily="49" charset="0"/>
              </a:rPr>
              <a:t>sales.sale_date</a:t>
            </a:r>
            <a:r>
              <a:rPr lang="en-IN" sz="1200" dirty="0">
                <a:latin typeface="Consolas" panose="020B0609020204030204" pitchFamily="49" charset="0"/>
              </a:rPr>
              <a:t>) / 30)),2) AS AVG_GAP_MONTHS</a:t>
            </a:r>
          </a:p>
          <a:p>
            <a:r>
              <a:rPr lang="en-IN" sz="1200" dirty="0">
                <a:latin typeface="Consolas" panose="020B0609020204030204" pitchFamily="49" charset="0"/>
              </a:rPr>
              <a:t>FROM warranty JOIN sales ON </a:t>
            </a:r>
            <a:r>
              <a:rPr lang="en-IN" sz="1200" dirty="0" err="1">
                <a:latin typeface="Consolas" panose="020B0609020204030204" pitchFamily="49" charset="0"/>
              </a:rPr>
              <a:t>warranty.sale_id</a:t>
            </a:r>
            <a:r>
              <a:rPr lang="en-IN" sz="1200" dirty="0">
                <a:latin typeface="Consolas" panose="020B0609020204030204" pitchFamily="49" charset="0"/>
              </a:rPr>
              <a:t> = </a:t>
            </a:r>
            <a:r>
              <a:rPr lang="en-IN" sz="1200" dirty="0" err="1">
                <a:latin typeface="Consolas" panose="020B0609020204030204" pitchFamily="49" charset="0"/>
              </a:rPr>
              <a:t>sales.sale_id</a:t>
            </a:r>
            <a:r>
              <a:rPr lang="en-IN" sz="1200" dirty="0">
                <a:latin typeface="Consolas" panose="020B0609020204030204" pitchFamily="49" charset="0"/>
              </a:rPr>
              <a:t>;</a:t>
            </a:r>
          </a:p>
        </p:txBody>
      </p:sp>
      <p:sp>
        <p:nvSpPr>
          <p:cNvPr id="4" name="Rectangle 3">
            <a:extLst>
              <a:ext uri="{FF2B5EF4-FFF2-40B4-BE49-F238E27FC236}">
                <a16:creationId xmlns:a16="http://schemas.microsoft.com/office/drawing/2014/main" id="{7B71AB32-C5B3-4963-ACCB-62E471E310CD}"/>
              </a:ext>
            </a:extLst>
          </p:cNvPr>
          <p:cNvSpPr/>
          <p:nvPr/>
        </p:nvSpPr>
        <p:spPr>
          <a:xfrm>
            <a:off x="6286500" y="1841499"/>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9C0AEFA3-0888-4F2E-AFC6-C866AF4B963E}"/>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On average, customers raise warranty claims around X days (≈ Y months) after purchase. This indicates the typical lifespan before issues arise.</a:t>
            </a:r>
            <a:endParaRPr lang="en-IN" sz="2000" dirty="0"/>
          </a:p>
        </p:txBody>
      </p:sp>
      <p:pic>
        <p:nvPicPr>
          <p:cNvPr id="7" name="Picture 6">
            <a:extLst>
              <a:ext uri="{FF2B5EF4-FFF2-40B4-BE49-F238E27FC236}">
                <a16:creationId xmlns:a16="http://schemas.microsoft.com/office/drawing/2014/main" id="{C033C333-73D5-4A1C-94DA-3ED1130F6172}"/>
              </a:ext>
            </a:extLst>
          </p:cNvPr>
          <p:cNvPicPr>
            <a:picLocks noChangeAspect="1"/>
          </p:cNvPicPr>
          <p:nvPr/>
        </p:nvPicPr>
        <p:blipFill>
          <a:blip r:embed="rId2"/>
          <a:stretch>
            <a:fillRect/>
          </a:stretch>
        </p:blipFill>
        <p:spPr>
          <a:xfrm>
            <a:off x="6765655" y="3097520"/>
            <a:ext cx="4748638" cy="662959"/>
          </a:xfrm>
          <a:prstGeom prst="rect">
            <a:avLst/>
          </a:prstGeom>
        </p:spPr>
      </p:pic>
    </p:spTree>
    <p:extLst>
      <p:ext uri="{BB962C8B-B14F-4D97-AF65-F5344CB8AC3E}">
        <p14:creationId xmlns:p14="http://schemas.microsoft.com/office/powerpoint/2010/main" val="23187051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434C45-1AEF-477E-87BC-85E2336E458F}"/>
              </a:ext>
            </a:extLst>
          </p:cNvPr>
          <p:cNvSpPr>
            <a:spLocks noGrp="1"/>
          </p:cNvSpPr>
          <p:nvPr>
            <p:ph type="title"/>
          </p:nvPr>
        </p:nvSpPr>
        <p:spPr>
          <a:xfrm>
            <a:off x="1640156" y="382082"/>
            <a:ext cx="8911687" cy="1280890"/>
          </a:xfrm>
        </p:spPr>
        <p:txBody>
          <a:bodyPr/>
          <a:lstStyle/>
          <a:p>
            <a:r>
              <a:rPr lang="en-GB" dirty="0"/>
              <a:t>17. Identify products with highest </a:t>
            </a:r>
            <a:r>
              <a:rPr lang="en-GB" dirty="0" err="1"/>
              <a:t>repair_status</a:t>
            </a:r>
            <a:r>
              <a:rPr lang="en-GB" dirty="0"/>
              <a:t> = 'Pending' claims.</a:t>
            </a:r>
            <a:endParaRPr lang="en-IN" dirty="0"/>
          </a:p>
        </p:txBody>
      </p:sp>
      <p:sp>
        <p:nvSpPr>
          <p:cNvPr id="3" name="TextBox 2">
            <a:extLst>
              <a:ext uri="{FF2B5EF4-FFF2-40B4-BE49-F238E27FC236}">
                <a16:creationId xmlns:a16="http://schemas.microsoft.com/office/drawing/2014/main" id="{D8589781-1DFE-44F2-B16E-B4301F9BC1B7}"/>
              </a:ext>
            </a:extLst>
          </p:cNvPr>
          <p:cNvSpPr txBox="1"/>
          <p:nvPr/>
        </p:nvSpPr>
        <p:spPr>
          <a:xfrm>
            <a:off x="381000" y="2828835"/>
            <a:ext cx="5715000" cy="1200329"/>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SELECT </a:t>
            </a:r>
            <a:r>
              <a:rPr lang="en-GB" sz="1200" dirty="0" err="1">
                <a:latin typeface="Consolas" panose="020B0609020204030204" pitchFamily="49" charset="0"/>
              </a:rPr>
              <a:t>sales.product_id</a:t>
            </a:r>
            <a:r>
              <a:rPr lang="en-GB" sz="1200" dirty="0">
                <a:latin typeface="Consolas" panose="020B0609020204030204" pitchFamily="49" charset="0"/>
              </a:rPr>
              <a:t> AS PRODUCT_ID, COUNT(</a:t>
            </a:r>
            <a:r>
              <a:rPr lang="en-GB" sz="1200" dirty="0" err="1">
                <a:latin typeface="Consolas" panose="020B0609020204030204" pitchFamily="49" charset="0"/>
              </a:rPr>
              <a:t>warranty.repair_status</a:t>
            </a:r>
            <a:r>
              <a:rPr lang="en-GB" sz="1200" dirty="0">
                <a:latin typeface="Consolas" panose="020B0609020204030204" pitchFamily="49" charset="0"/>
              </a:rPr>
              <a:t>) AS COUNT</a:t>
            </a:r>
          </a:p>
          <a:p>
            <a:r>
              <a:rPr lang="en-GB" sz="1200" dirty="0">
                <a:latin typeface="Consolas" panose="020B0609020204030204" pitchFamily="49" charset="0"/>
              </a:rPr>
              <a:t>FROM warranty JOIN sales ON </a:t>
            </a:r>
            <a:r>
              <a:rPr lang="en-GB" sz="1200" dirty="0" err="1">
                <a:latin typeface="Consolas" panose="020B0609020204030204" pitchFamily="49" charset="0"/>
              </a:rPr>
              <a:t>warranty.sale_id</a:t>
            </a:r>
            <a:r>
              <a:rPr lang="en-GB" sz="1200" dirty="0">
                <a:latin typeface="Consolas" panose="020B0609020204030204" pitchFamily="49" charset="0"/>
              </a:rPr>
              <a:t> = </a:t>
            </a:r>
            <a:r>
              <a:rPr lang="en-GB" sz="1200" dirty="0" err="1">
                <a:latin typeface="Consolas" panose="020B0609020204030204" pitchFamily="49" charset="0"/>
              </a:rPr>
              <a:t>sales.sale_id</a:t>
            </a:r>
            <a:endParaRPr lang="en-GB" sz="1200" dirty="0">
              <a:latin typeface="Consolas" panose="020B0609020204030204" pitchFamily="49" charset="0"/>
            </a:endParaRPr>
          </a:p>
          <a:p>
            <a:r>
              <a:rPr lang="en-GB" sz="1200" dirty="0">
                <a:latin typeface="Consolas" panose="020B0609020204030204" pitchFamily="49" charset="0"/>
              </a:rPr>
              <a:t>WHERE </a:t>
            </a:r>
            <a:r>
              <a:rPr lang="en-GB" sz="1200" dirty="0" err="1">
                <a:latin typeface="Consolas" panose="020B0609020204030204" pitchFamily="49" charset="0"/>
              </a:rPr>
              <a:t>warranty.repair_status</a:t>
            </a:r>
            <a:r>
              <a:rPr lang="en-GB" sz="1200" dirty="0">
                <a:latin typeface="Consolas" panose="020B0609020204030204" pitchFamily="49" charset="0"/>
              </a:rPr>
              <a:t> = 'Pending' GROUP BY PRODUCT_ID ORDER BY COUNT DESC;</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7ABC86DC-37EA-4463-874B-20D450D53015}"/>
              </a:ext>
            </a:extLst>
          </p:cNvPr>
          <p:cNvSpPr/>
          <p:nvPr/>
        </p:nvSpPr>
        <p:spPr>
          <a:xfrm>
            <a:off x="6286500" y="1905000"/>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3B5B0E36-AB8F-450C-A0A3-AE43F15EBAFF}"/>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This query identifies products with the highest number of pending warranty claims. Product 9 tops the list, indicating unresolved service issues.</a:t>
            </a:r>
            <a:endParaRPr lang="en-IN" sz="2000" dirty="0"/>
          </a:p>
        </p:txBody>
      </p:sp>
      <p:pic>
        <p:nvPicPr>
          <p:cNvPr id="7" name="Picture 6">
            <a:extLst>
              <a:ext uri="{FF2B5EF4-FFF2-40B4-BE49-F238E27FC236}">
                <a16:creationId xmlns:a16="http://schemas.microsoft.com/office/drawing/2014/main" id="{50DE658A-66BE-4C90-88DE-2E72FFF9CD43}"/>
              </a:ext>
            </a:extLst>
          </p:cNvPr>
          <p:cNvPicPr>
            <a:picLocks noChangeAspect="1"/>
          </p:cNvPicPr>
          <p:nvPr/>
        </p:nvPicPr>
        <p:blipFill>
          <a:blip r:embed="rId2"/>
          <a:stretch>
            <a:fillRect/>
          </a:stretch>
        </p:blipFill>
        <p:spPr>
          <a:xfrm>
            <a:off x="7897397" y="2344709"/>
            <a:ext cx="2137378" cy="2168581"/>
          </a:xfrm>
          <a:prstGeom prst="rect">
            <a:avLst/>
          </a:prstGeom>
        </p:spPr>
      </p:pic>
    </p:spTree>
    <p:extLst>
      <p:ext uri="{BB962C8B-B14F-4D97-AF65-F5344CB8AC3E}">
        <p14:creationId xmlns:p14="http://schemas.microsoft.com/office/powerpoint/2010/main" val="326735898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708F-CC12-4658-9D4F-85DE2629DAB5}"/>
              </a:ext>
            </a:extLst>
          </p:cNvPr>
          <p:cNvSpPr>
            <a:spLocks noGrp="1"/>
          </p:cNvSpPr>
          <p:nvPr>
            <p:ph type="title"/>
          </p:nvPr>
        </p:nvSpPr>
        <p:spPr>
          <a:xfrm>
            <a:off x="1640156" y="382082"/>
            <a:ext cx="8911687" cy="1280890"/>
          </a:xfrm>
        </p:spPr>
        <p:txBody>
          <a:bodyPr/>
          <a:lstStyle/>
          <a:p>
            <a:r>
              <a:rPr lang="en-GB" dirty="0"/>
              <a:t>18. Calculate the claim rate per product (claims/sales).</a:t>
            </a:r>
            <a:endParaRPr lang="en-IN" dirty="0"/>
          </a:p>
        </p:txBody>
      </p:sp>
      <p:sp>
        <p:nvSpPr>
          <p:cNvPr id="3" name="TextBox 2">
            <a:extLst>
              <a:ext uri="{FF2B5EF4-FFF2-40B4-BE49-F238E27FC236}">
                <a16:creationId xmlns:a16="http://schemas.microsoft.com/office/drawing/2014/main" id="{74676EDA-CFB6-4FA9-ADF5-7560E9699A53}"/>
              </a:ext>
            </a:extLst>
          </p:cNvPr>
          <p:cNvSpPr txBox="1"/>
          <p:nvPr/>
        </p:nvSpPr>
        <p:spPr>
          <a:xfrm>
            <a:off x="381000" y="2828835"/>
            <a:ext cx="5715000" cy="1200329"/>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WITH PRODUCT_CLAIM_COUNT AS (...), PRODUCT_SALES_COUNT AS (...) </a:t>
            </a:r>
          </a:p>
          <a:p>
            <a:r>
              <a:rPr lang="en-GB" sz="1200" dirty="0">
                <a:latin typeface="Consolas" panose="020B0609020204030204" pitchFamily="49" charset="0"/>
              </a:rPr>
              <a:t>SELECT PRODUCT_CLAIM_COUNT.PRODUCT_ID, (CLAIM_COUNT / SALES_COUNT) * 100 AS CLAIM_RATE </a:t>
            </a:r>
          </a:p>
          <a:p>
            <a:r>
              <a:rPr lang="en-GB" sz="1200" dirty="0">
                <a:latin typeface="Consolas" panose="020B0609020204030204" pitchFamily="49" charset="0"/>
              </a:rPr>
              <a:t>FROM PRODUCT_CLAIM_COUNT LEFT JOIN PRODUCT_SALES_COUNT ON ... ORDER BY CLAIM_RATE DESC;</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96834307-9B5A-4787-BAE5-710C6A77374D}"/>
              </a:ext>
            </a:extLst>
          </p:cNvPr>
          <p:cNvSpPr/>
          <p:nvPr/>
        </p:nvSpPr>
        <p:spPr>
          <a:xfrm>
            <a:off x="6286500" y="1841499"/>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9FF11413-E619-457C-BA68-A6ED49D2FD24}"/>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This query identifies products with the highest warranty claim rate relative to sales. Product 9 has the worst performance, with rate of 3.29 of its sales resulting in claims.</a:t>
            </a:r>
            <a:endParaRPr lang="en-IN" sz="2000" dirty="0"/>
          </a:p>
        </p:txBody>
      </p:sp>
      <p:pic>
        <p:nvPicPr>
          <p:cNvPr id="7" name="Picture 6">
            <a:extLst>
              <a:ext uri="{FF2B5EF4-FFF2-40B4-BE49-F238E27FC236}">
                <a16:creationId xmlns:a16="http://schemas.microsoft.com/office/drawing/2014/main" id="{AAA5CEF2-8265-4154-BA58-5F5ACECA2A17}"/>
              </a:ext>
            </a:extLst>
          </p:cNvPr>
          <p:cNvPicPr>
            <a:picLocks noChangeAspect="1"/>
          </p:cNvPicPr>
          <p:nvPr/>
        </p:nvPicPr>
        <p:blipFill>
          <a:blip r:embed="rId2"/>
          <a:stretch>
            <a:fillRect/>
          </a:stretch>
        </p:blipFill>
        <p:spPr>
          <a:xfrm>
            <a:off x="6608471" y="2254242"/>
            <a:ext cx="5070788" cy="2349515"/>
          </a:xfrm>
          <a:prstGeom prst="rect">
            <a:avLst/>
          </a:prstGeom>
        </p:spPr>
      </p:pic>
    </p:spTree>
    <p:extLst>
      <p:ext uri="{BB962C8B-B14F-4D97-AF65-F5344CB8AC3E}">
        <p14:creationId xmlns:p14="http://schemas.microsoft.com/office/powerpoint/2010/main" val="5392629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1A2AE3-2933-4BE6-AE66-34D8CD29787D}"/>
              </a:ext>
            </a:extLst>
          </p:cNvPr>
          <p:cNvSpPr>
            <a:spLocks noGrp="1"/>
          </p:cNvSpPr>
          <p:nvPr>
            <p:ph type="title"/>
          </p:nvPr>
        </p:nvSpPr>
        <p:spPr>
          <a:xfrm>
            <a:off x="1640156" y="316200"/>
            <a:ext cx="8911687" cy="1280890"/>
          </a:xfrm>
        </p:spPr>
        <p:txBody>
          <a:bodyPr/>
          <a:lstStyle/>
          <a:p>
            <a:r>
              <a:rPr lang="en-GB" dirty="0"/>
              <a:t>19. Find the top 5 products with the worst warranty performance.</a:t>
            </a:r>
            <a:endParaRPr lang="en-IN" dirty="0"/>
          </a:p>
        </p:txBody>
      </p:sp>
      <p:sp>
        <p:nvSpPr>
          <p:cNvPr id="3" name="TextBox 2">
            <a:extLst>
              <a:ext uri="{FF2B5EF4-FFF2-40B4-BE49-F238E27FC236}">
                <a16:creationId xmlns:a16="http://schemas.microsoft.com/office/drawing/2014/main" id="{3B76ABF5-376C-4C0D-B372-C3D2485868FB}"/>
              </a:ext>
            </a:extLst>
          </p:cNvPr>
          <p:cNvSpPr txBox="1"/>
          <p:nvPr/>
        </p:nvSpPr>
        <p:spPr>
          <a:xfrm>
            <a:off x="381000" y="2828835"/>
            <a:ext cx="5715000" cy="1200329"/>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WITH PRODUCT_CLAIM_COUNT AS (...), PRODUCT_SALES_COUNT AS (...) </a:t>
            </a:r>
          </a:p>
          <a:p>
            <a:r>
              <a:rPr lang="en-GB" sz="1200" dirty="0">
                <a:latin typeface="Consolas" panose="020B0609020204030204" pitchFamily="49" charset="0"/>
              </a:rPr>
              <a:t>SELECT PRODUCT_CLAIM_COUNT.PRODUCT_ID, (CLAIM_COUNT / SALES_COUNT) * 100 AS CLAIM_RATE </a:t>
            </a:r>
          </a:p>
          <a:p>
            <a:r>
              <a:rPr lang="en-GB" sz="1200" dirty="0">
                <a:latin typeface="Consolas" panose="020B0609020204030204" pitchFamily="49" charset="0"/>
              </a:rPr>
              <a:t>FROM PRODUCT_CLAIM_COUNT LEFT JOIN PRODUCT_SALES_COUNT ON ... ORDER BY CLAIM_RATE DESC LIMIT 5;</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47429885-0A76-453B-B5A2-3F2542CC8664}"/>
              </a:ext>
            </a:extLst>
          </p:cNvPr>
          <p:cNvSpPr/>
          <p:nvPr/>
        </p:nvSpPr>
        <p:spPr>
          <a:xfrm>
            <a:off x="6286500" y="1841499"/>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054007D5-1AB8-4CE6-96AA-E44308D332CA}"/>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This query identifies the top 5 products with the worst warranty performance. Product 301 has a 30% claim rate, making it the most problematic.</a:t>
            </a:r>
            <a:endParaRPr lang="en-IN" sz="2000" dirty="0"/>
          </a:p>
        </p:txBody>
      </p:sp>
      <p:pic>
        <p:nvPicPr>
          <p:cNvPr id="7" name="Picture 6">
            <a:extLst>
              <a:ext uri="{FF2B5EF4-FFF2-40B4-BE49-F238E27FC236}">
                <a16:creationId xmlns:a16="http://schemas.microsoft.com/office/drawing/2014/main" id="{7843891F-42C5-4C6D-9B27-755033B38201}"/>
              </a:ext>
            </a:extLst>
          </p:cNvPr>
          <p:cNvPicPr>
            <a:picLocks noChangeAspect="1"/>
          </p:cNvPicPr>
          <p:nvPr/>
        </p:nvPicPr>
        <p:blipFill>
          <a:blip r:embed="rId2"/>
          <a:stretch>
            <a:fillRect/>
          </a:stretch>
        </p:blipFill>
        <p:spPr>
          <a:xfrm>
            <a:off x="6500875" y="2529820"/>
            <a:ext cx="5242675" cy="1798360"/>
          </a:xfrm>
          <a:prstGeom prst="rect">
            <a:avLst/>
          </a:prstGeom>
        </p:spPr>
      </p:pic>
    </p:spTree>
    <p:extLst>
      <p:ext uri="{BB962C8B-B14F-4D97-AF65-F5344CB8AC3E}">
        <p14:creationId xmlns:p14="http://schemas.microsoft.com/office/powerpoint/2010/main" val="18148794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C3AD44-931D-438A-86F2-BAD2DD6C91A1}"/>
              </a:ext>
            </a:extLst>
          </p:cNvPr>
          <p:cNvSpPr>
            <a:spLocks noGrp="1"/>
          </p:cNvSpPr>
          <p:nvPr>
            <p:ph type="title"/>
          </p:nvPr>
        </p:nvSpPr>
        <p:spPr>
          <a:xfrm>
            <a:off x="1640156" y="400176"/>
            <a:ext cx="8911687" cy="1280890"/>
          </a:xfrm>
        </p:spPr>
        <p:txBody>
          <a:bodyPr/>
          <a:lstStyle/>
          <a:p>
            <a:r>
              <a:rPr lang="en-GB" dirty="0"/>
              <a:t>20. Find the high-value products with high warranty claims.</a:t>
            </a:r>
            <a:endParaRPr lang="en-IN" dirty="0"/>
          </a:p>
        </p:txBody>
      </p:sp>
      <p:sp>
        <p:nvSpPr>
          <p:cNvPr id="3" name="TextBox 2">
            <a:extLst>
              <a:ext uri="{FF2B5EF4-FFF2-40B4-BE49-F238E27FC236}">
                <a16:creationId xmlns:a16="http://schemas.microsoft.com/office/drawing/2014/main" id="{83D57B5B-865A-44CC-BC5B-8BD839A7C9B3}"/>
              </a:ext>
            </a:extLst>
          </p:cNvPr>
          <p:cNvSpPr txBox="1"/>
          <p:nvPr/>
        </p:nvSpPr>
        <p:spPr>
          <a:xfrm>
            <a:off x="381000" y="3013501"/>
            <a:ext cx="5715000" cy="830997"/>
          </a:xfrm>
          <a:prstGeom prst="rect">
            <a:avLst/>
          </a:prstGeom>
          <a:solidFill>
            <a:srgbClr val="F0F0F0"/>
          </a:solidFill>
        </p:spPr>
        <p:txBody>
          <a:bodyPr vert="horz" wrap="square" rtlCol="0">
            <a:spAutoFit/>
          </a:bodyPr>
          <a:lstStyle/>
          <a:p>
            <a:r>
              <a:rPr lang="en-GB" sz="1200" dirty="0">
                <a:latin typeface="Consolas" panose="020B0609020204030204" pitchFamily="49" charset="0"/>
              </a:rPr>
              <a:t>SQL Query:</a:t>
            </a:r>
          </a:p>
          <a:p>
            <a:r>
              <a:rPr lang="en-GB" sz="1200" dirty="0">
                <a:latin typeface="Consolas" panose="020B0609020204030204" pitchFamily="49" charset="0"/>
              </a:rPr>
              <a:t>WITH HIGH_VALUE_PRODUCTS AS (...), HIGH_CLAIM_PRODUCTS AS (...) </a:t>
            </a:r>
          </a:p>
          <a:p>
            <a:r>
              <a:rPr lang="en-GB" sz="1200" dirty="0">
                <a:latin typeface="Consolas" panose="020B0609020204030204" pitchFamily="49" charset="0"/>
              </a:rPr>
              <a:t>SELECT </a:t>
            </a:r>
            <a:r>
              <a:rPr lang="en-GB" sz="1200" dirty="0" err="1">
                <a:latin typeface="Consolas" panose="020B0609020204030204" pitchFamily="49" charset="0"/>
              </a:rPr>
              <a:t>HIGH_VALUE_PRODUCTS.Product_ID</a:t>
            </a:r>
            <a:r>
              <a:rPr lang="en-GB" sz="1200" dirty="0">
                <a:latin typeface="Consolas" panose="020B0609020204030204" pitchFamily="49" charset="0"/>
              </a:rPr>
              <a:t> </a:t>
            </a:r>
          </a:p>
          <a:p>
            <a:r>
              <a:rPr lang="en-GB" sz="1200" dirty="0">
                <a:latin typeface="Consolas" panose="020B0609020204030204" pitchFamily="49" charset="0"/>
              </a:rPr>
              <a:t>FROM HIGH_VALUE_PRODUCTS INNER JOIN HIGH_CLAIM_PRODUCTS ON ...;</a:t>
            </a:r>
            <a:endParaRPr lang="en-IN" sz="1200" dirty="0">
              <a:latin typeface="Consolas" panose="020B0609020204030204" pitchFamily="49" charset="0"/>
            </a:endParaRPr>
          </a:p>
        </p:txBody>
      </p:sp>
      <p:sp>
        <p:nvSpPr>
          <p:cNvPr id="4" name="Rectangle 3">
            <a:extLst>
              <a:ext uri="{FF2B5EF4-FFF2-40B4-BE49-F238E27FC236}">
                <a16:creationId xmlns:a16="http://schemas.microsoft.com/office/drawing/2014/main" id="{E780195C-C6FE-4226-A15F-7818AF5AB6C0}"/>
              </a:ext>
            </a:extLst>
          </p:cNvPr>
          <p:cNvSpPr/>
          <p:nvPr/>
        </p:nvSpPr>
        <p:spPr>
          <a:xfrm>
            <a:off x="6286500" y="1841500"/>
            <a:ext cx="5715000" cy="3175000"/>
          </a:xfrm>
          <a:prstGeom prst="rect">
            <a:avLst/>
          </a:prstGeom>
          <a:solidFill>
            <a:srgbClr val="BEDC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b="1" dirty="0"/>
          </a:p>
        </p:txBody>
      </p:sp>
      <p:sp>
        <p:nvSpPr>
          <p:cNvPr id="5" name="TextBox 4">
            <a:extLst>
              <a:ext uri="{FF2B5EF4-FFF2-40B4-BE49-F238E27FC236}">
                <a16:creationId xmlns:a16="http://schemas.microsoft.com/office/drawing/2014/main" id="{956FF5EC-D390-4A0D-A63B-13DBC7D1B7C4}"/>
              </a:ext>
            </a:extLst>
          </p:cNvPr>
          <p:cNvSpPr txBox="1"/>
          <p:nvPr/>
        </p:nvSpPr>
        <p:spPr>
          <a:xfrm>
            <a:off x="381000" y="5080000"/>
            <a:ext cx="11811000" cy="1015663"/>
          </a:xfrm>
          <a:prstGeom prst="rect">
            <a:avLst/>
          </a:prstGeom>
          <a:noFill/>
        </p:spPr>
        <p:txBody>
          <a:bodyPr vert="horz" rtlCol="0">
            <a:spAutoFit/>
          </a:bodyPr>
          <a:lstStyle/>
          <a:p>
            <a:r>
              <a:rPr lang="en-GB" sz="2000" b="1" dirty="0"/>
              <a:t>Observations:</a:t>
            </a:r>
          </a:p>
          <a:p>
            <a:r>
              <a:rPr lang="en-GB" sz="2000" dirty="0"/>
              <a:t>This query identifies premium products that also suffer from high warranty claims. These products represent a double risk: they are costly for customers but also unreliable.</a:t>
            </a:r>
            <a:endParaRPr lang="en-IN" sz="2000" dirty="0"/>
          </a:p>
        </p:txBody>
      </p:sp>
      <p:pic>
        <p:nvPicPr>
          <p:cNvPr id="7" name="Picture 6">
            <a:extLst>
              <a:ext uri="{FF2B5EF4-FFF2-40B4-BE49-F238E27FC236}">
                <a16:creationId xmlns:a16="http://schemas.microsoft.com/office/drawing/2014/main" id="{3E98EE0D-2A45-47E5-9FA7-8E1A4808B81F}"/>
              </a:ext>
            </a:extLst>
          </p:cNvPr>
          <p:cNvPicPr>
            <a:picLocks noChangeAspect="1"/>
          </p:cNvPicPr>
          <p:nvPr/>
        </p:nvPicPr>
        <p:blipFill>
          <a:blip r:embed="rId2"/>
          <a:stretch>
            <a:fillRect/>
          </a:stretch>
        </p:blipFill>
        <p:spPr>
          <a:xfrm>
            <a:off x="7932032" y="2038800"/>
            <a:ext cx="2423936" cy="2780397"/>
          </a:xfrm>
          <a:prstGeom prst="rect">
            <a:avLst/>
          </a:prstGeom>
        </p:spPr>
      </p:pic>
    </p:spTree>
    <p:extLst>
      <p:ext uri="{BB962C8B-B14F-4D97-AF65-F5344CB8AC3E}">
        <p14:creationId xmlns:p14="http://schemas.microsoft.com/office/powerpoint/2010/main" val="35708452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A760D-25A4-4F3A-9544-FAC724A72B7A}"/>
              </a:ext>
            </a:extLst>
          </p:cNvPr>
          <p:cNvSpPr>
            <a:spLocks noGrp="1"/>
          </p:cNvSpPr>
          <p:nvPr>
            <p:ph type="title"/>
          </p:nvPr>
        </p:nvSpPr>
        <p:spPr/>
        <p:txBody>
          <a:bodyPr/>
          <a:lstStyle/>
          <a:p>
            <a:r>
              <a:rPr lang="en-IN" dirty="0"/>
              <a:t>Thank You</a:t>
            </a:r>
          </a:p>
        </p:txBody>
      </p:sp>
    </p:spTree>
    <p:extLst>
      <p:ext uri="{BB962C8B-B14F-4D97-AF65-F5344CB8AC3E}">
        <p14:creationId xmlns:p14="http://schemas.microsoft.com/office/powerpoint/2010/main" val="2590277373"/>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81</TotalTime>
  <Words>2357</Words>
  <Application>Microsoft Office PowerPoint</Application>
  <PresentationFormat>Widescreen</PresentationFormat>
  <Paragraphs>170</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Century Gothic</vt:lpstr>
      <vt:lpstr>Consolas</vt:lpstr>
      <vt:lpstr>Wingdings 3</vt:lpstr>
      <vt:lpstr>Wisp</vt:lpstr>
      <vt:lpstr>Apple Retail Sales &amp; Warranty Analysis</vt:lpstr>
      <vt:lpstr>PowerPoint Presentation</vt:lpstr>
      <vt:lpstr>Key Focus Areas:   - Revenue, Growth Rate, Seasonality (Sales &amp; Revenue)   - Quality, Claims, Product Life Cycle (Warranty &amp; Product)   - Store Ranking, Claim Ratio, Diversity (Store Performance)</vt:lpstr>
      <vt:lpstr>1. Data Acquisition:  - Initial schema review of 5 core tables (category, products, sales, stores, warranty).</vt:lpstr>
      <vt:lpstr>01. Find the top 5 products that generated the highest revenue in the last year.</vt:lpstr>
      <vt:lpstr>02. Calculate the monthly sales growth rate for each store.</vt:lpstr>
      <vt:lpstr>03. Identify the seasonal trends in product sales (e.g., peak months).</vt:lpstr>
      <vt:lpstr>04. Find the average selling price per category and compare across stores.</vt:lpstr>
      <vt:lpstr>05. Determine the most profitable store based on total revenue.</vt:lpstr>
      <vt:lpstr>06. List products that have never been sold since their launch.</vt:lpstr>
      <vt:lpstr>07. Find the fastest-growing category in terms of sales quantity.</vt:lpstr>
      <vt:lpstr>08. Identify products with high revenue with low sales quantity.</vt:lpstr>
      <vt:lpstr>09. Compare the average warranty claims per category to spot quality issues.</vt:lpstr>
      <vt:lpstr>10. Find the top 3 categories contributing to overall revenue.</vt:lpstr>
      <vt:lpstr>11. Rank stores by sales per city (City-level aggregation).</vt:lpstr>
      <vt:lpstr>12. Find stores that sell high-value products but have low warranty claims.</vt:lpstr>
      <vt:lpstr>13. Identify stores with highest warranty claim ratio.</vt:lpstr>
      <vt:lpstr>14. Compare sales performance across countries.</vt:lpstr>
      <vt:lpstr>15. Find the store with maximum product diversity (unique products sold).</vt:lpstr>
      <vt:lpstr>16. Find the average time gap between sale_date and claim_date.</vt:lpstr>
      <vt:lpstr>17. Identify products with highest repair_status = 'Pending' claims.</vt:lpstr>
      <vt:lpstr>18. Calculate the claim rate per product (claims/sales).</vt:lpstr>
      <vt:lpstr>19. Find the top 5 products with the worst warranty performance.</vt:lpstr>
      <vt:lpstr>20. Find the high-value products with high warranty claims.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Sales &amp; Warranty Analysis</dc:title>
  <dc:creator>Logan Chetty</dc:creator>
  <cp:lastModifiedBy>Logan Chetty</cp:lastModifiedBy>
  <cp:revision>25</cp:revision>
  <dcterms:created xsi:type="dcterms:W3CDTF">2025-12-10T16:18:12Z</dcterms:created>
  <dcterms:modified xsi:type="dcterms:W3CDTF">2025-12-10T17:39:12Z</dcterms:modified>
</cp:coreProperties>
</file>